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gif" ContentType="image/gif"/>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abstract.xml" ContentType="application/vnd.openxmlformats-officedocument.presentationml.slide+xml"/>
  <Override PartName="/ppt/notesSlides/notesSlideabstract.xml" ContentType="application/vnd.openxmlformats-officedocument.presentationml.notesSlide+xml"/>
  <Override PartName="/ppt/slides/slidecover.xml" ContentType="application/vnd.openxmlformats-officedocument.presentationml.slide+xml"/>
  <Override PartName="/ppt/notesSlides/notesSlidecover.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1000" r:id="rIdCover"/>
    <p:sldId id="1001" r:id="rIdAbstract"/>
    <p:sldId id="256" r:id="rId90"/>
    <p:sldId id="257" r:id="rId91"/>
    <p:sldId id="258" r:id="rId92"/>
    <p:sldId id="259" r:id="rId93"/>
    <p:sldId id="260" r:id="rId94"/>
    <p:sldId id="261" r:id="rId95"/>
    <p:sldId id="262" r:id="rId96"/>
    <p:sldId id="263" r:id="rId97"/>
    <p:sldId id="264" r:id="rId9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3"/>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498" y="121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0" Type="http://schemas.openxmlformats.org/officeDocument/2006/relationships/slide" Target="slides/slide1.xml"/><Relationship Id="rId91" Type="http://schemas.openxmlformats.org/officeDocument/2006/relationships/slide" Target="slides/slide2.xml"/><Relationship Id="rId92" Type="http://schemas.openxmlformats.org/officeDocument/2006/relationships/slide" Target="slides/slide3.xml"/><Relationship Id="rId93" Type="http://schemas.openxmlformats.org/officeDocument/2006/relationships/slide" Target="slides/slide4.xml"/><Relationship Id="rId94" Type="http://schemas.openxmlformats.org/officeDocument/2006/relationships/slide" Target="slides/slide5.xml"/><Relationship Id="rId95" Type="http://schemas.openxmlformats.org/officeDocument/2006/relationships/slide" Target="slides/slide6.xml"/><Relationship Id="rId96" Type="http://schemas.openxmlformats.org/officeDocument/2006/relationships/slide" Target="slides/slide7.xml"/><Relationship Id="rId97" Type="http://schemas.openxmlformats.org/officeDocument/2006/relationships/slide" Target="slides/slide8.xml"/><Relationship Id="rId98" Type="http://schemas.openxmlformats.org/officeDocument/2006/relationships/slide" Target="slides/slide9.xml"/><Relationship Id="rIdAbstract" Type="http://schemas.openxmlformats.org/officeDocument/2006/relationships/slide" Target="slides/slideabstract.xml"/><Relationship Id="rIdCover" Type="http://schemas.openxmlformats.org/officeDocument/2006/relationships/slide" Target="slides/slidecover.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0D88E22-B339-4D1F-9AA1-A55FBF89BA4D}" type="datetimeFigureOut">
              <a:rPr lang="en-GB" smtClean="0"/>
              <a:pPr/>
              <a:t>09/12/2014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FD34A19-1034-4F07-BCD4-05E5E1DABBFE}"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abstract.xml.rels><?xml version="1.0" encoding="UTF-8" standalone="yes"?>
<Relationships xmlns="http://schemas.openxmlformats.org/package/2006/relationships"><Relationship Id="rId2" Type="http://schemas.openxmlformats.org/officeDocument/2006/relationships/slide" Target="../slides/slideabstract.xml"/><Relationship Id="rId1" Type="http://schemas.openxmlformats.org/officeDocument/2006/relationships/notesMaster" Target="../notesMasters/notesMaster1.xml"/></Relationships>

</file>

<file path=ppt/notesSlides/_rels/notesSlidecover.xml.rels><?xml version="1.0" encoding="UTF-8" standalone="yes"?>
<Relationships xmlns="http://schemas.openxmlformats.org/package/2006/relationships"><Relationship Id="rId2" Type="http://schemas.openxmlformats.org/officeDocument/2006/relationships/slide" Target="../slides/slidecover.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The Voigt profiles on variation of the Gaussian and Lorentzian FWHM values, ΓG and ΓL. [Ida, T., Ando, M. and Toraya, H. (2000). J. Appl. Cryst. 33, 1311-1316. ]</a:t>
            </a:r>
            <a:endParaRPr lang="en-GB" dirty="0"/>
          </a:p>
        </p:txBody>
      </p:sp>
      <p:sp>
        <p:nvSpPr>
          <p:cNvPr id="4" name="Slide Number Placeholder 3"/>
          <p:cNvSpPr>
            <a:spLocks noGrp="1"/>
          </p:cNvSpPr>
          <p:nvPr>
            <p:ph type="sldNum" sz="quarter" idx="10"/>
          </p:nvPr>
        </p:nvSpPr>
        <p:spPr/>
        <p:txBody>
          <a:bodyPr/>
          <a:lstStyle/>
          <a:p>
            <a:fld id="{9FD34A19-1034-4F07-BCD4-05E5E1DABBFE}" type="slidenum">
              <a:rPr lang="en-GB" smtClean="0"/>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Three-dimensional plot of the deviation of the pseudo-Voigt function calculated by the formula proposed by Thompson et al. (1987) from the Voigt profile relative to the peak height. [Ida, T., Ando, M. and Toraya, H. (2000). J. Appl. Cryst. 33, 1311-1316. ]</a:t>
            </a:r>
            <a:endParaRPr lang="en-GB" dirty="0"/>
          </a:p>
        </p:txBody>
      </p:sp>
      <p:sp>
        <p:nvSpPr>
          <p:cNvPr id="4" name="Slide Number Placeholder 3"/>
          <p:cNvSpPr>
            <a:spLocks noGrp="1"/>
          </p:cNvSpPr>
          <p:nvPr>
            <p:ph type="sldNum" sz="quarter" idx="10"/>
          </p:nvPr>
        </p:nvSpPr>
        <p:spPr/>
        <p:txBody>
          <a:bodyPr/>
          <a:lstStyle/>
          <a:p>
            <a:fld id="{9FD34A19-1034-4F07-BCD4-05E5E1DABBFE}" type="slidenum">
              <a:rPr lang="en-GB" smtClean="0"/>
              <a:pPr/>
              <a:t>1</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Profiles of the Gaussian, Lorentzian, irrational and hyperbolic functions with FWHM = 1. [Ida, T., Ando, M. and Toraya, H. (2000). J. Appl. Cryst. 33, 1311-1316. ]</a:t>
            </a:r>
            <a:endParaRPr lang="en-GB" dirty="0"/>
          </a:p>
        </p:txBody>
      </p:sp>
      <p:sp>
        <p:nvSpPr>
          <p:cNvPr id="4" name="Slide Number Placeholder 3"/>
          <p:cNvSpPr>
            <a:spLocks noGrp="1"/>
          </p:cNvSpPr>
          <p:nvPr>
            <p:ph type="sldNum" sz="quarter" idx="10"/>
          </p:nvPr>
        </p:nvSpPr>
        <p:spPr/>
        <p:txBody>
          <a:bodyPr/>
          <a:lstStyle/>
          <a:p>
            <a:fld id="{9FD34A19-1034-4F07-BCD4-05E5E1DABBFE}" type="slidenum">
              <a:rPr lang="en-GB" smtClean="0"/>
              <a:pPr/>
              <a:t>1</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The optimized values of extended pseudo-Voigt parameters wG, wL, wI and wP. [Ida, T., Ando, M. and Toraya, H. (2000). J. Appl. Cryst. 33, 1311-1316. ]</a:t>
            </a:r>
            <a:endParaRPr lang="en-GB" dirty="0"/>
          </a:p>
        </p:txBody>
      </p:sp>
      <p:sp>
        <p:nvSpPr>
          <p:cNvPr id="4" name="Slide Number Placeholder 3"/>
          <p:cNvSpPr>
            <a:spLocks noGrp="1"/>
          </p:cNvSpPr>
          <p:nvPr>
            <p:ph type="sldNum" sz="quarter" idx="10"/>
          </p:nvPr>
        </p:nvSpPr>
        <p:spPr/>
        <p:txBody>
          <a:bodyPr/>
          <a:lstStyle/>
          <a:p>
            <a:fld id="{9FD34A19-1034-4F07-BCD4-05E5E1DABBFE}" type="slidenum">
              <a:rPr lang="en-GB" smtClean="0"/>
              <a:pPr/>
              <a:t>1</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The optimized values of extended pseudo-Voigt parameters ηL, ηI and ηP. [Ida, T., Ando, M. and Toraya, H. (2000). J. Appl. Cryst. 33, 1311-1316. ]</a:t>
            </a:r>
            <a:endParaRPr lang="en-GB" dirty="0"/>
          </a:p>
        </p:txBody>
      </p:sp>
      <p:sp>
        <p:nvSpPr>
          <p:cNvPr id="4" name="Slide Number Placeholder 3"/>
          <p:cNvSpPr>
            <a:spLocks noGrp="1"/>
          </p:cNvSpPr>
          <p:nvPr>
            <p:ph type="sldNum" sz="quarter" idx="10"/>
          </p:nvPr>
        </p:nvSpPr>
        <p:spPr/>
        <p:txBody>
          <a:bodyPr/>
          <a:lstStyle/>
          <a:p>
            <a:fld id="{9FD34A19-1034-4F07-BCD4-05E5E1DABBFE}" type="slidenum">
              <a:rPr lang="en-GB" smtClean="0"/>
              <a:pPr/>
              <a:t>1</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Three-dimensional plot of the deviation of the extended pseudo-Voigt function from the Voigt profile relative to the peak height. [Ida, T., Ando, M. and Toraya, H. (2000). J. Appl. Cryst. 33, 1311-1316. ]</a:t>
            </a:r>
            <a:endParaRPr lang="en-GB" dirty="0"/>
          </a:p>
        </p:txBody>
      </p:sp>
      <p:sp>
        <p:nvSpPr>
          <p:cNvPr id="4" name="Slide Number Placeholder 3"/>
          <p:cNvSpPr>
            <a:spLocks noGrp="1"/>
          </p:cNvSpPr>
          <p:nvPr>
            <p:ph type="sldNum" sz="quarter" idx="10"/>
          </p:nvPr>
        </p:nvSpPr>
        <p:spPr/>
        <p:txBody>
          <a:bodyPr/>
          <a:lstStyle/>
          <a:p>
            <a:fld id="{9FD34A19-1034-4F07-BCD4-05E5E1DABBFE}" type="slidenum">
              <a:rPr lang="en-GB" smtClean="0"/>
              <a:pPr/>
              <a:t>1</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Errors in estimation of the integrated intensity I from Voigt profile data. The data labelled `TCH' were calculated by the formula proposed by Thompson et al. (1987), and those labelled `epV' were calculated by the extended pseudo-Voigt function. B is the height of the background added to the Voigt profile. [Ida, T., Ando, M. and Toraya, H. (2000). J. Appl. Cryst. 33, 1311-1316. ]</a:t>
            </a:r>
            <a:endParaRPr lang="en-GB" dirty="0"/>
          </a:p>
        </p:txBody>
      </p:sp>
      <p:sp>
        <p:nvSpPr>
          <p:cNvPr id="4" name="Slide Number Placeholder 3"/>
          <p:cNvSpPr>
            <a:spLocks noGrp="1"/>
          </p:cNvSpPr>
          <p:nvPr>
            <p:ph type="sldNum" sz="quarter" idx="10"/>
          </p:nvPr>
        </p:nvSpPr>
        <p:spPr/>
        <p:txBody>
          <a:bodyPr/>
          <a:lstStyle/>
          <a:p>
            <a:fld id="{9FD34A19-1034-4F07-BCD4-05E5E1DABBFE}" type="slidenum">
              <a:rPr lang="en-GB" smtClean="0"/>
              <a:pPr/>
              <a:t>1</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Errors in estimation of the Gaussian FWHM ΓG from Voigt profile data. [Ida, T., Ando, M. and Toraya, H. (2000). J. Appl. Cryst. 33, 1311-1316. ]</a:t>
            </a:r>
            <a:endParaRPr lang="en-GB" dirty="0"/>
          </a:p>
        </p:txBody>
      </p:sp>
      <p:sp>
        <p:nvSpPr>
          <p:cNvPr id="4" name="Slide Number Placeholder 3"/>
          <p:cNvSpPr>
            <a:spLocks noGrp="1"/>
          </p:cNvSpPr>
          <p:nvPr>
            <p:ph type="sldNum" sz="quarter" idx="10"/>
          </p:nvPr>
        </p:nvSpPr>
        <p:spPr/>
        <p:txBody>
          <a:bodyPr/>
          <a:lstStyle/>
          <a:p>
            <a:fld id="{9FD34A19-1034-4F07-BCD4-05E5E1DABBFE}" type="slidenum">
              <a:rPr lang="en-GB" smtClean="0"/>
              <a:pPr/>
              <a:t>1</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Errors in estimation of the Lorentzian FWHM ΓL from Voigt profile data. [Ida, T., Ando, M. and Toraya, H. (2000). J. Appl. Cryst. 33, 1311-1316. ]</a:t>
            </a:r>
            <a:endParaRPr lang="en-GB" dirty="0"/>
          </a:p>
        </p:txBody>
      </p:sp>
      <p:sp>
        <p:nvSpPr>
          <p:cNvPr id="4" name="Slide Number Placeholder 3"/>
          <p:cNvSpPr>
            <a:spLocks noGrp="1"/>
          </p:cNvSpPr>
          <p:nvPr>
            <p:ph type="sldNum" sz="quarter" idx="10"/>
          </p:nvPr>
        </p:nvSpPr>
        <p:spPr/>
        <p:txBody>
          <a:bodyPr/>
          <a:lstStyle/>
          <a:p>
            <a:fld id="{9FD34A19-1034-4F07-BCD4-05E5E1DABBFE}" type="slidenum">
              <a:rPr lang="en-GB" smtClean="0"/>
              <a:pPr/>
              <a:t>1</a:t>
            </a:fld>
            <a:endParaRPr lang="en-GB"/>
          </a:p>
        </p:txBody>
      </p:sp>
    </p:spTree>
  </p:cSld>
  <p:clrMapOvr>
    <a:masterClrMapping/>
  </p:clrMapOvr>
</p:notes>
</file>

<file path=ppt/notesSlides/notesSlideabstract.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The formula of the pseudo-Voigt function expressed by a weighted sum of Gaussian and Lorentzian functions is extended by adding two other types of peak functions in order to improve the accuracy when approximating the Voigt profile. The full width at half-maximum (FWHM) values and mixing parameters of the Gaussian, the Lorentzian and the other two component functions in the extended formula can be approximated by polynomials of a parameter ρ = ΓL/(ΓG + ΓL), where ΓG and ΓL are the FWHM values of the deconvoluted Gaussian and Lorentzian functions, respectively. The maximum deviation of the extended pseudo-Voigt function from the Voigt profile is within 0.12% relative to the peak height when sixth-order polynomial expansions are used. The systematic errors of the integrated intensity ΓG and ΓL, estimated by fitting the extended formula to Voigt profiles, are typically less than 1/10 of the errors arising from the application of the original formula of the pseudo-Voigt approximation proposed by Thompson et al. [J. Appl. Cryst. (1987), 20, 79–83], while the time required for computation of the extended formula is only about 2.5 relative to the computation time required for the original formula.</a:t>
            </a:r>
            <a:endParaRPr lang="en-GB" dirty="0"/>
          </a:p>
        </p:txBody>
      </p:sp>
      <p:sp>
        <p:nvSpPr>
          <p:cNvPr id="4" name="Slide Number Placeholder 3"/>
          <p:cNvSpPr>
            <a:spLocks noGrp="1"/>
          </p:cNvSpPr>
          <p:nvPr>
            <p:ph type="sldNum" sz="quarter" idx="10"/>
          </p:nvPr>
        </p:nvSpPr>
        <p:spPr/>
        <p:txBody>
          <a:bodyPr/>
          <a:lstStyle/>
          <a:p>
            <a:fld id="{9FD34A19-1034-4F07-BCD4-05E5E1DABBFE}" type="slidenum">
              <a:rPr lang="en-GB" smtClean="0"/>
              <a:pPr/>
              <a:t>1</a:t>
            </a:fld>
            <a:endParaRPr lang="en-GB"/>
          </a:p>
        </p:txBody>
      </p:sp>
    </p:spTree>
  </p:cSld>
  <p:clrMapOvr>
    <a:masterClrMapping/>
  </p:clrMapOvr>
</p:notes>
</file>

<file path=ppt/notesSlides/notesSlidecover.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The formula of the pseudo-Voigt function is extended in order to improve the accuracy when approximating the Voigt profile. When the extended formula is applied for curve fitting to a Voigt profile, the accuracy of the estimated profile parameters can be improved considerably.</a:t>
            </a:r>
            <a:endParaRPr lang="en-GB" dirty="0"/>
          </a:p>
        </p:txBody>
      </p:sp>
      <p:sp>
        <p:nvSpPr>
          <p:cNvPr id="4" name="Slide Number Placeholder 3"/>
          <p:cNvSpPr>
            <a:spLocks noGrp="1"/>
          </p:cNvSpPr>
          <p:nvPr>
            <p:ph type="sldNum" sz="quarter" idx="10"/>
          </p:nvPr>
        </p:nvSpPr>
        <p:spPr/>
        <p:txBody>
          <a:bodyPr/>
          <a:lstStyle/>
          <a:p>
            <a:fld id="{9FD34A19-1034-4F07-BCD4-05E5E1DABBFE}" type="slidenum">
              <a:rPr lang="en-GB" smtClean="0"/>
              <a:pPr/>
              <a:t>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F17F767C-1609-4890-943F-06C1AAE54CED}" type="datetimeFigureOut">
              <a:rPr lang="en-GB" smtClean="0"/>
              <a:pPr/>
              <a:t>09/12/2014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64A4F9-9CFA-4165-B04F-80B53FA76C5E}"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17F767C-1609-4890-943F-06C1AAE54CED}" type="datetimeFigureOut">
              <a:rPr lang="en-GB" smtClean="0"/>
              <a:pPr/>
              <a:t>09/12/2014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64A4F9-9CFA-4165-B04F-80B53FA76C5E}"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17F767C-1609-4890-943F-06C1AAE54CED}" type="datetimeFigureOut">
              <a:rPr lang="en-GB" smtClean="0"/>
              <a:pPr/>
              <a:t>09/12/2014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64A4F9-9CFA-4165-B04F-80B53FA76C5E}"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F17F767C-1609-4890-943F-06C1AAE54CED}" type="datetimeFigureOut">
              <a:rPr lang="en-GB" smtClean="0"/>
              <a:pPr/>
              <a:t>09/12/2014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764A4F9-9CFA-4165-B04F-80B53FA76C5E}"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F17F767C-1609-4890-943F-06C1AAE54CED}" type="datetimeFigureOut">
              <a:rPr lang="en-GB" smtClean="0"/>
              <a:pPr/>
              <a:t>09/12/2014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764A4F9-9CFA-4165-B04F-80B53FA76C5E}"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F17F767C-1609-4890-943F-06C1AAE54CED}" type="datetimeFigureOut">
              <a:rPr lang="en-GB" smtClean="0"/>
              <a:pPr/>
              <a:t>09/12/2014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764A4F9-9CFA-4165-B04F-80B53FA76C5E}"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F767C-1609-4890-943F-06C1AAE54CED}" type="datetimeFigureOut">
              <a:rPr lang="en-GB" smtClean="0"/>
              <a:pPr/>
              <a:t>09/12/2014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764A4F9-9CFA-4165-B04F-80B53FA76C5E}"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17F767C-1609-4890-943F-06C1AAE54CED}" type="datetimeFigureOut">
              <a:rPr lang="en-GB" smtClean="0"/>
              <a:pPr/>
              <a:t>09/12/2014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764A4F9-9CFA-4165-B04F-80B53FA76C5E}"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17F767C-1609-4890-943F-06C1AAE54CED}" type="datetimeFigureOut">
              <a:rPr lang="en-GB" smtClean="0"/>
              <a:pPr/>
              <a:t>09/12/2014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764A4F9-9CFA-4165-B04F-80B53FA76C5E}"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17F767C-1609-4890-943F-06C1AAE54CED}" type="datetimeFigureOut">
              <a:rPr lang="en-GB" smtClean="0"/>
              <a:pPr/>
              <a:t>09/12/2014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64A4F9-9CFA-4165-B04F-80B53FA76C5E}"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17F767C-1609-4890-943F-06C1AAE54CED}" type="datetimeFigureOut">
              <a:rPr lang="en-GB" smtClean="0"/>
              <a:pPr/>
              <a:t>09/12/2014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64A4F9-9CFA-4165-B04F-80B53FA76C5E}"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7F767C-1609-4890-943F-06C1AAE54CED}" type="datetimeFigureOut">
              <a:rPr lang="en-GB" smtClean="0"/>
              <a:pPr/>
              <a:t>09/12/2014</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64A4F9-9CFA-4165-B04F-80B53FA76C5E}"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dx.doi.or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dx.doi.org/"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dx.doi.org/"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hyperlink" Target="http://dx.doi.org/"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hyperlink" Target="http://dx.doi.org/"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hyperlink" Target="http://dx.doi.org/"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hyperlink" Target="http://dx.doi.org/"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hyperlink" Target="http://dx.doi.org/"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hyperlink" Target="http://dx.doi.org/"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1.png"/></Relationships>

</file>

<file path=ppt/slides/_rels/slideabstract.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abstract.xml"/><Relationship Id="rId1" Type="http://schemas.openxmlformats.org/officeDocument/2006/relationships/slideLayout" Target="../slideLayouts/slideLayout1.xml"/></Relationships>

</file>

<file path=ppt/slides/_rels/slidecover.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cover.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 1"/>
          <p:cNvSpPr>
            <a:spLocks noGrp="1"/>
          </p:cNvSpPr>
          <p:nvPr>
            <p:ph type="ctrTitle"/>
          </p:nvPr>
        </p:nvSpPr>
        <p:spPr>
          <a:xfrm>
            <a:off x="683568" y="332656"/>
            <a:ext cx="7772400" cy="576064"/>
          </a:xfrm>
        </p:spPr>
        <p:txBody>
          <a:bodyPr>
            <a:normAutofit/>
          </a:bodyPr>
          <a:lstStyle/>
          <a:p>
            <a:r>
              <a:rPr lang="en-GB" sz="1400" dirty="0" smtClean="0"/>
              <a:t/>
            </a:r>
            <a:r>
              <a:rPr lang="en-GB" b="0" sz="1400" dirty="0" smtClean="0">
                <a:solidFill>
                  <a:srgbClr val="595959"/>
                </a:solidFill>
              </a:rPr>
              <a:t>Figure 1. The Voigt profiles on variation of the Gaussian and Lorentzian FWHM values, Γ</a:t>
            </a:r>
            <a:r>
              <a:rPr lang="en-GB" b="0" i="0" sz="1400" baseline="-25000" dirty="0" smtClean="0">
                <a:solidFill>
                  <a:srgbClr val="595959"/>
                </a:solidFill>
              </a:rPr>
              <a:t/>
            </a:r>
            <a:r>
              <a:rPr lang="en-GB" b="0" i="1" sz="1400" baseline="-25000" dirty="0" smtClean="0">
                <a:solidFill>
                  <a:srgbClr val="595959"/>
                </a:solidFill>
              </a:rPr>
              <a:t>G</a:t>
            </a:r>
            <a:r>
              <a:rPr lang="en-GB" b="0" i="0" sz="1400" baseline="-25000" dirty="0" smtClean="0">
                <a:solidFill>
                  <a:srgbClr val="595959"/>
                </a:solidFill>
              </a:rPr>
              <a:t/>
            </a:r>
            <a:r>
              <a:rPr lang="en-GB" b="0" i="0" sz="1400" baseline="0" dirty="0" smtClean="0">
                <a:solidFill>
                  <a:srgbClr val="595959"/>
                </a:solidFill>
              </a:rPr>
              <a:t> and Γ</a:t>
            </a:r>
            <a:r>
              <a:rPr lang="en-GB" b="0" i="0" sz="1400" baseline="-25000" dirty="0" smtClean="0">
                <a:solidFill>
                  <a:srgbClr val="595959"/>
                </a:solidFill>
              </a:rPr>
              <a:t/>
            </a:r>
            <a:r>
              <a:rPr lang="en-GB" b="0" i="1" sz="1400" baseline="-25000" dirty="0" smtClean="0">
                <a:solidFill>
                  <a:srgbClr val="595959"/>
                </a:solidFill>
              </a:rPr>
              <a:t>L</a:t>
            </a:r>
            <a:r>
              <a:rPr lang="en-GB" b="0" i="0" sz="1400" baseline="-25000" dirty="0" smtClean="0">
                <a:solidFill>
                  <a:srgbClr val="595959"/>
                </a:solidFill>
              </a:rPr>
              <a:t/>
            </a:r>
            <a:r>
              <a:rPr lang="en-GB" b="0" i="0" sz="1400" baseline="0" dirty="0" smtClean="0">
                <a:solidFill>
                  <a:srgbClr val="595959"/>
                </a:solidFill>
              </a:rPr>
              <a:t>.</a:t>
            </a:r>
            <a:endParaRPr lang="en-GB" sz="1400" dirty="0"/>
          </a:p>
        </p:txBody>
      </p:sp>
      <p:sp>
        <p:nvSpPr>
          <p:cNvPr id="3" name="Journal Reference 1"/>
          <p:cNvSpPr>
            <a:spLocks noGrp="1"/>
          </p:cNvSpPr>
          <p:nvPr>
            <p:ph type="subTitle" idx="1"/>
          </p:nvPr>
        </p:nvSpPr>
        <p:spPr>
          <a:xfrm>
            <a:off x="2483768" y="6093296"/>
            <a:ext cx="6264696" cy="625624"/>
          </a:xfrm>
        </p:spPr>
        <p:txBody>
          <a:bodyPr>
            <a:normAutofit/>
          </a:bodyPr>
          <a:lstStyle/>
          <a:p>
            <a:pPr algn="r"/>
            <a:r>
              <a:rPr lang="en-GB" sz="1400" dirty="0" smtClean="0"/>
              <a:t> </a:t>
            </a:r>
            <a:r>
              <a:rPr lang="en-GB" sz="1400" b="1" dirty="0" smtClean="0">
                <a:solidFill>
                  <a:srgbClr val="43260a"/>
                </a:solidFill>
              </a:rPr>
              <a:t>Ida </a:t>
            </a:r>
            <a:r>
              <a:rPr lang="en-GB" sz="1400" b="1" i="1" dirty="0" smtClean="0">
                <a:solidFill>
                  <a:srgbClr val="43260a"/>
                </a:solidFill>
              </a:rPr>
              <a:t>et al.</a:t>
            </a:r>
          </a:p>
          <a:p>
            <a:pPr algn="r"/>
            <a:r>
              <a:rPr lang="en-GB" sz="1200" dirty="0" smtClean="0">
                <a:solidFill>
                  <a:srgbClr val="FF0000"/>
                </a:solidFill>
              </a:rPr>
              <a:t> </a:t>
            </a:r>
            <a:r>
              <a:rPr lang="en-GB" sz="1200" dirty="0" smtClean="0">
                <a:solidFill>
                  <a:srgbClr val="FF0000"/>
                </a:solidFill>
              </a:rPr>
              <a:t/>
            </a:r>
            <a:r>
              <a:rPr lang="en-GB" sz="1200" b="1" dirty="0" smtClean="0">
                <a:solidFill>
                  <a:srgbClr val="43260a"/>
                </a:solidFill>
              </a:rPr>
              <a:t>Volume 33</a:t>
            </a:r>
            <a:r>
              <a:rPr lang="en-GB" sz="1200" dirty="0" smtClean="0">
                <a:solidFill>
                  <a:srgbClr val="595959"/>
                </a:solidFill>
              </a:rPr>
              <a:t> | </a:t>
            </a:r>
            <a:r>
              <a:rPr lang="en-GB" sz="1200" b="1" dirty="0" smtClean="0">
                <a:solidFill>
                  <a:srgbClr val="43260a"/>
                </a:solidFill>
              </a:rPr>
              <a:t>Part 6</a:t>
            </a:r>
            <a:r>
              <a:rPr lang="en-GB" sz="1200" dirty="0" smtClean="0">
                <a:solidFill>
                  <a:srgbClr val="595959"/>
                </a:solidFill>
              </a:rPr>
              <a:t> | </a:t>
            </a:r>
            <a:r>
              <a:rPr lang="en-GB" sz="1200" dirty="0" smtClean="0">
                <a:solidFill>
                  <a:srgbClr val="43260a"/>
                </a:solidFill>
              </a:rPr>
              <a:t>December 2000</a:t>
            </a:r>
            <a:r>
              <a:rPr lang="en-GB" sz="1200" dirty="0" smtClean="0">
                <a:solidFill>
                  <a:srgbClr val="595959"/>
                </a:solidFill>
              </a:rPr>
              <a:t> | </a:t>
            </a:r>
            <a:r>
              <a:rPr lang="en-GB" sz="1200" dirty="0" smtClean="0">
                <a:solidFill>
                  <a:srgbClr val="43260a"/>
                </a:solidFill>
              </a:rPr>
              <a:t>Pages 1311–1316</a:t>
            </a:r>
            <a:r>
              <a:rPr lang="en-GB" sz="1200" dirty="0" smtClean="0">
                <a:solidFill>
                  <a:srgbClr val="595959"/>
                </a:solidFill>
              </a:rPr>
              <a:t> | </a:t>
            </a:r>
            <a:r>
              <a:rPr lang="en-GB" sz="1200" dirty="0" smtClean="0">
                <a:solidFill>
                  <a:srgbClr val="43260a"/>
                </a:solidFill>
              </a:rPr>
              <a:t/>
            </a:r>
            <a:endParaRPr lang="en-GB" sz="1200" dirty="0">
              <a:solidFill>
                <a:srgbClr val="FF0000"/>
              </a:solidFill>
            </a:endParaRPr>
          </a:p>
        </p:txBody>
      </p:sp>
      <p:pic>
        <p:nvPicPr>
          <p:cNvPr id="4" name="Journal Logo 1" descr="IUCrlogo.png"/>
          <p:cNvPicPr>
            <a:picLocks noChangeAspect="1"/>
          </p:cNvPicPr>
          <p:nvPr/>
        </p:nvPicPr>
        <p:blipFill>
          <a:blip r:embed="rId4" cstate="print"/>
          <a:stretch>
            <a:fillRect/>
          </a:stretch>
        </p:blipFill>
        <p:spPr>
          <a:xfrm>
            <a:off x="395536" y="6021289"/>
            <a:ext cx="1944216" cy="579920"/>
          </a:xfrm>
          <a:prstGeom prst="rect">
            <a:avLst/>
          </a:prstGeom>
        </p:spPr>
      </p:pic>
      <p:pic>
        <p:nvPicPr>
          <p:cNvPr id="5" name="Figure 1" descr="IUCrfigure.png"/>
          <p:cNvPicPr>
            <a:picLocks noChangeAspect="1"/>
          </p:cNvPicPr>
          <p:nvPr/>
        </p:nvPicPr>
        <p:blipFill>
          <a:blip r:embed="rId5" cstate="print"/>
          <a:stretch>
            <a:fillRect/>
          </a:stretch>
        </p:blipFill>
        <p:spPr>
          <a:xfrm>
            <a:off x="1114928" y="1052736"/>
            <a:ext cx="6914143" cy="48245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 2"/>
          <p:cNvSpPr>
            <a:spLocks noGrp="1"/>
          </p:cNvSpPr>
          <p:nvPr>
            <p:ph type="ctrTitle"/>
          </p:nvPr>
        </p:nvSpPr>
        <p:spPr>
          <a:xfrm>
            <a:off x="683568" y="332656"/>
            <a:ext cx="7772400" cy="576064"/>
          </a:xfrm>
        </p:spPr>
        <p:txBody>
          <a:bodyPr>
            <a:normAutofit/>
          </a:bodyPr>
          <a:lstStyle/>
          <a:p>
            <a:r>
              <a:rPr lang="en-GB" sz="1400" dirty="0" smtClean="0"/>
              <a:t/>
            </a:r>
            <a:r>
              <a:rPr lang="en-GB" b="0" sz="1400" dirty="0" smtClean="0">
                <a:solidFill>
                  <a:srgbClr val="595959"/>
                </a:solidFill>
              </a:rPr>
              <a:t>Figure 2. Three-dimensional plot of the deviation of the pseudo-Voigt function calculated by the formula proposed by Thompson </a:t>
            </a:r>
            <a:r>
              <a:rPr lang="en-GB" b="0" i="1" sz="1400" baseline="0" dirty="0" smtClean="0">
                <a:solidFill>
                  <a:srgbClr val="595959"/>
                </a:solidFill>
              </a:rPr>
              <a:t>et al.</a:t>
            </a:r>
            <a:r>
              <a:rPr lang="en-GB" b="0" i="0" sz="1400" baseline="0" dirty="0" smtClean="0">
                <a:solidFill>
                  <a:srgbClr val="595959"/>
                </a:solidFill>
              </a:rPr>
              <a:t> (1987) from the Voigt profile relative to the peak height.</a:t>
            </a:r>
            <a:endParaRPr lang="en-GB" sz="1400" dirty="0"/>
          </a:p>
        </p:txBody>
      </p:sp>
      <p:sp>
        <p:nvSpPr>
          <p:cNvPr id="3" name="Journal Reference 2"/>
          <p:cNvSpPr>
            <a:spLocks noGrp="1"/>
          </p:cNvSpPr>
          <p:nvPr>
            <p:ph type="subTitle" idx="1"/>
          </p:nvPr>
        </p:nvSpPr>
        <p:spPr>
          <a:xfrm>
            <a:off x="2483768" y="6093296"/>
            <a:ext cx="6264696" cy="625624"/>
          </a:xfrm>
        </p:spPr>
        <p:txBody>
          <a:bodyPr>
            <a:normAutofit/>
          </a:bodyPr>
          <a:lstStyle/>
          <a:p>
            <a:pPr algn="r"/>
            <a:r>
              <a:rPr lang="en-GB" sz="1400" dirty="0" smtClean="0"/>
              <a:t> </a:t>
            </a:r>
            <a:r>
              <a:rPr lang="en-GB" sz="1400" b="1" dirty="0" smtClean="0">
                <a:solidFill>
                  <a:srgbClr val="43260a"/>
                </a:solidFill>
              </a:rPr>
              <a:t>Ida </a:t>
            </a:r>
            <a:r>
              <a:rPr lang="en-GB" sz="1400" b="1" i="1" dirty="0" smtClean="0">
                <a:solidFill>
                  <a:srgbClr val="43260a"/>
                </a:solidFill>
              </a:rPr>
              <a:t>et al.</a:t>
            </a:r>
          </a:p>
          <a:p>
            <a:pPr algn="r"/>
            <a:r>
              <a:rPr lang="en-GB" sz="1200" dirty="0" smtClean="0">
                <a:solidFill>
                  <a:srgbClr val="FF0000"/>
                </a:solidFill>
              </a:rPr>
              <a:t> </a:t>
            </a:r>
            <a:r>
              <a:rPr lang="en-GB" sz="1200" dirty="0" smtClean="0">
                <a:solidFill>
                  <a:srgbClr val="FF0000"/>
                </a:solidFill>
              </a:rPr>
              <a:t/>
            </a:r>
            <a:r>
              <a:rPr lang="en-GB" sz="1200" b="1" dirty="0" smtClean="0">
                <a:solidFill>
                  <a:srgbClr val="43260a"/>
                </a:solidFill>
              </a:rPr>
              <a:t>Volume 33</a:t>
            </a:r>
            <a:r>
              <a:rPr lang="en-GB" sz="1200" dirty="0" smtClean="0">
                <a:solidFill>
                  <a:srgbClr val="595959"/>
                </a:solidFill>
              </a:rPr>
              <a:t> | </a:t>
            </a:r>
            <a:r>
              <a:rPr lang="en-GB" sz="1200" b="1" dirty="0" smtClean="0">
                <a:solidFill>
                  <a:srgbClr val="43260a"/>
                </a:solidFill>
              </a:rPr>
              <a:t>Part 6</a:t>
            </a:r>
            <a:r>
              <a:rPr lang="en-GB" sz="1200" dirty="0" smtClean="0">
                <a:solidFill>
                  <a:srgbClr val="595959"/>
                </a:solidFill>
              </a:rPr>
              <a:t> | </a:t>
            </a:r>
            <a:r>
              <a:rPr lang="en-GB" sz="1200" dirty="0" smtClean="0">
                <a:solidFill>
                  <a:srgbClr val="43260a"/>
                </a:solidFill>
              </a:rPr>
              <a:t>December 2000</a:t>
            </a:r>
            <a:r>
              <a:rPr lang="en-GB" sz="1200" dirty="0" smtClean="0">
                <a:solidFill>
                  <a:srgbClr val="595959"/>
                </a:solidFill>
              </a:rPr>
              <a:t> | </a:t>
            </a:r>
            <a:r>
              <a:rPr lang="en-GB" sz="1200" dirty="0" smtClean="0">
                <a:solidFill>
                  <a:srgbClr val="43260a"/>
                </a:solidFill>
              </a:rPr>
              <a:t>Pages 1311–1316</a:t>
            </a:r>
            <a:r>
              <a:rPr lang="en-GB" sz="1200" dirty="0" smtClean="0">
                <a:solidFill>
                  <a:srgbClr val="595959"/>
                </a:solidFill>
              </a:rPr>
              <a:t> | </a:t>
            </a:r>
            <a:r>
              <a:rPr lang="en-GB" sz="1200" dirty="0" smtClean="0">
                <a:solidFill>
                  <a:srgbClr val="43260a"/>
                </a:solidFill>
              </a:rPr>
              <a:t/>
            </a:r>
            <a:endParaRPr lang="en-GB" sz="1200" dirty="0">
              <a:solidFill>
                <a:srgbClr val="FF0000"/>
              </a:solidFill>
            </a:endParaRPr>
          </a:p>
        </p:txBody>
      </p:sp>
      <p:pic>
        <p:nvPicPr>
          <p:cNvPr id="4" name="Journal Logo 2" descr="IUCrlogo.png"/>
          <p:cNvPicPr>
            <a:picLocks noChangeAspect="1"/>
          </p:cNvPicPr>
          <p:nvPr/>
        </p:nvPicPr>
        <p:blipFill>
          <a:blip r:embed="rId4" cstate="print"/>
          <a:stretch>
            <a:fillRect/>
          </a:stretch>
        </p:blipFill>
        <p:spPr>
          <a:xfrm>
            <a:off x="395536" y="6021289"/>
            <a:ext cx="1944216" cy="579920"/>
          </a:xfrm>
          <a:prstGeom prst="rect">
            <a:avLst/>
          </a:prstGeom>
        </p:spPr>
      </p:pic>
      <p:pic>
        <p:nvPicPr>
          <p:cNvPr id="5" name="Figure 2" descr="IUCrfigure.png"/>
          <p:cNvPicPr>
            <a:picLocks noChangeAspect="1"/>
          </p:cNvPicPr>
          <p:nvPr/>
        </p:nvPicPr>
        <p:blipFill>
          <a:blip r:embed="rId5" cstate="print"/>
          <a:stretch>
            <a:fillRect/>
          </a:stretch>
        </p:blipFill>
        <p:spPr>
          <a:xfrm>
            <a:off x="1984347" y="1052736"/>
            <a:ext cx="5175306" cy="48245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 3"/>
          <p:cNvSpPr>
            <a:spLocks noGrp="1"/>
          </p:cNvSpPr>
          <p:nvPr>
            <p:ph type="ctrTitle"/>
          </p:nvPr>
        </p:nvSpPr>
        <p:spPr>
          <a:xfrm>
            <a:off x="683568" y="332656"/>
            <a:ext cx="7772400" cy="576064"/>
          </a:xfrm>
        </p:spPr>
        <p:txBody>
          <a:bodyPr>
            <a:normAutofit/>
          </a:bodyPr>
          <a:lstStyle/>
          <a:p>
            <a:r>
              <a:rPr lang="en-GB" sz="1400" dirty="0" smtClean="0"/>
              <a:t/>
            </a:r>
            <a:r>
              <a:rPr lang="en-GB" b="0" sz="1400" dirty="0" smtClean="0">
                <a:solidFill>
                  <a:srgbClr val="595959"/>
                </a:solidFill>
              </a:rPr>
              <a:t>Figure 3. Profiles of the Gaussian, Lorentzian, irrational and hyperbolic functions with FWHM = 1.</a:t>
            </a:r>
            <a:endParaRPr lang="en-GB" sz="1400" dirty="0"/>
          </a:p>
        </p:txBody>
      </p:sp>
      <p:sp>
        <p:nvSpPr>
          <p:cNvPr id="3" name="Journal Reference 3"/>
          <p:cNvSpPr>
            <a:spLocks noGrp="1"/>
          </p:cNvSpPr>
          <p:nvPr>
            <p:ph type="subTitle" idx="1"/>
          </p:nvPr>
        </p:nvSpPr>
        <p:spPr>
          <a:xfrm>
            <a:off x="2483768" y="6093296"/>
            <a:ext cx="6264696" cy="625624"/>
          </a:xfrm>
        </p:spPr>
        <p:txBody>
          <a:bodyPr>
            <a:normAutofit/>
          </a:bodyPr>
          <a:lstStyle/>
          <a:p>
            <a:pPr algn="r"/>
            <a:r>
              <a:rPr lang="en-GB" sz="1400" dirty="0" smtClean="0"/>
              <a:t> </a:t>
            </a:r>
            <a:r>
              <a:rPr lang="en-GB" sz="1400" b="1" dirty="0" smtClean="0">
                <a:solidFill>
                  <a:srgbClr val="43260a"/>
                </a:solidFill>
              </a:rPr>
              <a:t>Ida </a:t>
            </a:r>
            <a:r>
              <a:rPr lang="en-GB" sz="1400" b="1" i="1" dirty="0" smtClean="0">
                <a:solidFill>
                  <a:srgbClr val="43260a"/>
                </a:solidFill>
              </a:rPr>
              <a:t>et al.</a:t>
            </a:r>
          </a:p>
          <a:p>
            <a:pPr algn="r"/>
            <a:r>
              <a:rPr lang="en-GB" sz="1200" dirty="0" smtClean="0">
                <a:solidFill>
                  <a:srgbClr val="FF0000"/>
                </a:solidFill>
              </a:rPr>
              <a:t> </a:t>
            </a:r>
            <a:r>
              <a:rPr lang="en-GB" sz="1200" dirty="0" smtClean="0">
                <a:solidFill>
                  <a:srgbClr val="FF0000"/>
                </a:solidFill>
              </a:rPr>
              <a:t/>
            </a:r>
            <a:r>
              <a:rPr lang="en-GB" sz="1200" b="1" dirty="0" smtClean="0">
                <a:solidFill>
                  <a:srgbClr val="43260a"/>
                </a:solidFill>
              </a:rPr>
              <a:t>Volume 33</a:t>
            </a:r>
            <a:r>
              <a:rPr lang="en-GB" sz="1200" dirty="0" smtClean="0">
                <a:solidFill>
                  <a:srgbClr val="595959"/>
                </a:solidFill>
              </a:rPr>
              <a:t> | </a:t>
            </a:r>
            <a:r>
              <a:rPr lang="en-GB" sz="1200" b="1" dirty="0" smtClean="0">
                <a:solidFill>
                  <a:srgbClr val="43260a"/>
                </a:solidFill>
              </a:rPr>
              <a:t>Part 6</a:t>
            </a:r>
            <a:r>
              <a:rPr lang="en-GB" sz="1200" dirty="0" smtClean="0">
                <a:solidFill>
                  <a:srgbClr val="595959"/>
                </a:solidFill>
              </a:rPr>
              <a:t> | </a:t>
            </a:r>
            <a:r>
              <a:rPr lang="en-GB" sz="1200" dirty="0" smtClean="0">
                <a:solidFill>
                  <a:srgbClr val="43260a"/>
                </a:solidFill>
              </a:rPr>
              <a:t>December 2000</a:t>
            </a:r>
            <a:r>
              <a:rPr lang="en-GB" sz="1200" dirty="0" smtClean="0">
                <a:solidFill>
                  <a:srgbClr val="595959"/>
                </a:solidFill>
              </a:rPr>
              <a:t> | </a:t>
            </a:r>
            <a:r>
              <a:rPr lang="en-GB" sz="1200" dirty="0" smtClean="0">
                <a:solidFill>
                  <a:srgbClr val="43260a"/>
                </a:solidFill>
              </a:rPr>
              <a:t>Pages 1311–1316</a:t>
            </a:r>
            <a:r>
              <a:rPr lang="en-GB" sz="1200" dirty="0" smtClean="0">
                <a:solidFill>
                  <a:srgbClr val="595959"/>
                </a:solidFill>
              </a:rPr>
              <a:t> | </a:t>
            </a:r>
            <a:r>
              <a:rPr lang="en-GB" sz="1200" dirty="0" smtClean="0">
                <a:solidFill>
                  <a:srgbClr val="43260a"/>
                </a:solidFill>
              </a:rPr>
              <a:t/>
            </a:r>
            <a:endParaRPr lang="en-GB" sz="1200" dirty="0">
              <a:solidFill>
                <a:srgbClr val="FF0000"/>
              </a:solidFill>
            </a:endParaRPr>
          </a:p>
        </p:txBody>
      </p:sp>
      <p:pic>
        <p:nvPicPr>
          <p:cNvPr id="4" name="Journal Logo 3" descr="IUCrlogo.png"/>
          <p:cNvPicPr>
            <a:picLocks noChangeAspect="1"/>
          </p:cNvPicPr>
          <p:nvPr/>
        </p:nvPicPr>
        <p:blipFill>
          <a:blip r:embed="rId4" cstate="print"/>
          <a:stretch>
            <a:fillRect/>
          </a:stretch>
        </p:blipFill>
        <p:spPr>
          <a:xfrm>
            <a:off x="395536" y="6021289"/>
            <a:ext cx="1944216" cy="579920"/>
          </a:xfrm>
          <a:prstGeom prst="rect">
            <a:avLst/>
          </a:prstGeom>
        </p:spPr>
      </p:pic>
      <p:pic>
        <p:nvPicPr>
          <p:cNvPr id="5" name="Figure 3" descr="IUCrfigure.png"/>
          <p:cNvPicPr>
            <a:picLocks noChangeAspect="1"/>
          </p:cNvPicPr>
          <p:nvPr/>
        </p:nvPicPr>
        <p:blipFill>
          <a:blip r:embed="rId5" cstate="print"/>
          <a:stretch>
            <a:fillRect/>
          </a:stretch>
        </p:blipFill>
        <p:spPr>
          <a:xfrm>
            <a:off x="1114928" y="1052736"/>
            <a:ext cx="6914143" cy="482453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 4"/>
          <p:cNvSpPr>
            <a:spLocks noGrp="1"/>
          </p:cNvSpPr>
          <p:nvPr>
            <p:ph type="ctrTitle"/>
          </p:nvPr>
        </p:nvSpPr>
        <p:spPr>
          <a:xfrm>
            <a:off x="683568" y="332656"/>
            <a:ext cx="7772400" cy="576064"/>
          </a:xfrm>
        </p:spPr>
        <p:txBody>
          <a:bodyPr>
            <a:normAutofit/>
          </a:bodyPr>
          <a:lstStyle/>
          <a:p>
            <a:r>
              <a:rPr lang="en-GB" sz="1400" dirty="0" smtClean="0"/>
              <a:t/>
            </a:r>
            <a:r>
              <a:rPr lang="en-GB" b="0" sz="1400" dirty="0" smtClean="0">
                <a:solidFill>
                  <a:srgbClr val="595959"/>
                </a:solidFill>
              </a:rPr>
              <a:t>Figure 4. The optimized values of extended pseudo-Voigt parameters </a:t>
            </a:r>
            <a:r>
              <a:rPr lang="en-GB" b="0" i="1" sz="1400" baseline="0" dirty="0" smtClean="0">
                <a:solidFill>
                  <a:srgbClr val="595959"/>
                </a:solidFill>
              </a:rPr>
              <a:t>w</a:t>
            </a:r>
            <a:r>
              <a:rPr lang="en-GB" b="0" i="0" sz="1400" baseline="0" dirty="0" smtClean="0">
                <a:solidFill>
                  <a:srgbClr val="595959"/>
                </a:solidFill>
              </a:rPr>
              <a:t/>
            </a:r>
            <a:r>
              <a:rPr lang="en-GB" b="0" i="0" sz="1400" baseline="-25000" dirty="0" smtClean="0">
                <a:solidFill>
                  <a:srgbClr val="595959"/>
                </a:solidFill>
              </a:rPr>
              <a:t/>
            </a:r>
            <a:r>
              <a:rPr lang="en-GB" b="0" i="1" sz="1400" baseline="-25000" dirty="0" smtClean="0">
                <a:solidFill>
                  <a:srgbClr val="595959"/>
                </a:solidFill>
              </a:rPr>
              <a:t>G</a:t>
            </a:r>
            <a:r>
              <a:rPr lang="en-GB" b="0" i="0" sz="1400" baseline="-25000" dirty="0" smtClean="0">
                <a:solidFill>
                  <a:srgbClr val="595959"/>
                </a:solidFill>
              </a:rPr>
              <a:t/>
            </a:r>
            <a:r>
              <a:rPr lang="en-GB" b="0" i="0" sz="1400" baseline="0" dirty="0" smtClean="0">
                <a:solidFill>
                  <a:srgbClr val="595959"/>
                </a:solidFill>
              </a:rPr>
              <a:t>, </a:t>
            </a:r>
            <a:r>
              <a:rPr lang="en-GB" b="0" i="1" sz="1400" baseline="0" dirty="0" smtClean="0">
                <a:solidFill>
                  <a:srgbClr val="595959"/>
                </a:solidFill>
              </a:rPr>
              <a:t>w</a:t>
            </a:r>
            <a:r>
              <a:rPr lang="en-GB" b="0" i="0" sz="1400" baseline="0" dirty="0" smtClean="0">
                <a:solidFill>
                  <a:srgbClr val="595959"/>
                </a:solidFill>
              </a:rPr>
              <a:t/>
            </a:r>
            <a:r>
              <a:rPr lang="en-GB" b="0" i="0" sz="1400" baseline="-25000" dirty="0" smtClean="0">
                <a:solidFill>
                  <a:srgbClr val="595959"/>
                </a:solidFill>
              </a:rPr>
              <a:t/>
            </a:r>
            <a:r>
              <a:rPr lang="en-GB" b="0" i="1" sz="1400" baseline="-25000" dirty="0" smtClean="0">
                <a:solidFill>
                  <a:srgbClr val="595959"/>
                </a:solidFill>
              </a:rPr>
              <a:t>L</a:t>
            </a:r>
            <a:r>
              <a:rPr lang="en-GB" b="0" i="0" sz="1400" baseline="-25000" dirty="0" smtClean="0">
                <a:solidFill>
                  <a:srgbClr val="595959"/>
                </a:solidFill>
              </a:rPr>
              <a:t/>
            </a:r>
            <a:r>
              <a:rPr lang="en-GB" b="0" i="0" sz="1400" baseline="0" dirty="0" smtClean="0">
                <a:solidFill>
                  <a:srgbClr val="595959"/>
                </a:solidFill>
              </a:rPr>
              <a:t>, </a:t>
            </a:r>
            <a:r>
              <a:rPr lang="en-GB" b="0" i="1" sz="1400" baseline="0" dirty="0" smtClean="0">
                <a:solidFill>
                  <a:srgbClr val="595959"/>
                </a:solidFill>
              </a:rPr>
              <a:t>w</a:t>
            </a:r>
            <a:r>
              <a:rPr lang="en-GB" b="0" i="0" sz="1400" baseline="0" dirty="0" smtClean="0">
                <a:solidFill>
                  <a:srgbClr val="595959"/>
                </a:solidFill>
              </a:rPr>
              <a:t/>
            </a:r>
            <a:r>
              <a:rPr lang="en-GB" b="0" i="0" sz="1400" baseline="-25000" dirty="0" smtClean="0">
                <a:solidFill>
                  <a:srgbClr val="595959"/>
                </a:solidFill>
              </a:rPr>
              <a:t/>
            </a:r>
            <a:r>
              <a:rPr lang="en-GB" b="0" i="1" sz="1400" baseline="-25000" dirty="0" smtClean="0">
                <a:solidFill>
                  <a:srgbClr val="595959"/>
                </a:solidFill>
              </a:rPr>
              <a:t>I</a:t>
            </a:r>
            <a:r>
              <a:rPr lang="en-GB" b="0" i="0" sz="1400" baseline="-25000" dirty="0" smtClean="0">
                <a:solidFill>
                  <a:srgbClr val="595959"/>
                </a:solidFill>
              </a:rPr>
              <a:t/>
            </a:r>
            <a:r>
              <a:rPr lang="en-GB" b="0" i="0" sz="1400" baseline="0" dirty="0" smtClean="0">
                <a:solidFill>
                  <a:srgbClr val="595959"/>
                </a:solidFill>
              </a:rPr>
              <a:t> and </a:t>
            </a:r>
            <a:r>
              <a:rPr lang="en-GB" b="0" i="1" sz="1400" baseline="0" dirty="0" smtClean="0">
                <a:solidFill>
                  <a:srgbClr val="595959"/>
                </a:solidFill>
              </a:rPr>
              <a:t>w</a:t>
            </a:r>
            <a:r>
              <a:rPr lang="en-GB" b="0" i="0" sz="1400" baseline="0" dirty="0" smtClean="0">
                <a:solidFill>
                  <a:srgbClr val="595959"/>
                </a:solidFill>
              </a:rPr>
              <a:t/>
            </a:r>
            <a:r>
              <a:rPr lang="en-GB" b="0" i="0" sz="1400" baseline="-25000" dirty="0" smtClean="0">
                <a:solidFill>
                  <a:srgbClr val="595959"/>
                </a:solidFill>
              </a:rPr>
              <a:t/>
            </a:r>
            <a:r>
              <a:rPr lang="en-GB" b="0" i="1" sz="1400" baseline="-25000" dirty="0" smtClean="0">
                <a:solidFill>
                  <a:srgbClr val="595959"/>
                </a:solidFill>
              </a:rPr>
              <a:t>P</a:t>
            </a:r>
            <a:r>
              <a:rPr lang="en-GB" b="0" i="0" sz="1400" baseline="-25000" dirty="0" smtClean="0">
                <a:solidFill>
                  <a:srgbClr val="595959"/>
                </a:solidFill>
              </a:rPr>
              <a:t/>
            </a:r>
            <a:r>
              <a:rPr lang="en-GB" b="0" i="0" sz="1400" baseline="0" dirty="0" smtClean="0">
                <a:solidFill>
                  <a:srgbClr val="595959"/>
                </a:solidFill>
              </a:rPr>
              <a:t>.</a:t>
            </a:r>
            <a:endParaRPr lang="en-GB" sz="1400" dirty="0"/>
          </a:p>
        </p:txBody>
      </p:sp>
      <p:sp>
        <p:nvSpPr>
          <p:cNvPr id="3" name="Journal Reference 4"/>
          <p:cNvSpPr>
            <a:spLocks noGrp="1"/>
          </p:cNvSpPr>
          <p:nvPr>
            <p:ph type="subTitle" idx="1"/>
          </p:nvPr>
        </p:nvSpPr>
        <p:spPr>
          <a:xfrm>
            <a:off x="2483768" y="6093296"/>
            <a:ext cx="6264696" cy="625624"/>
          </a:xfrm>
        </p:spPr>
        <p:txBody>
          <a:bodyPr>
            <a:normAutofit/>
          </a:bodyPr>
          <a:lstStyle/>
          <a:p>
            <a:pPr algn="r"/>
            <a:r>
              <a:rPr lang="en-GB" sz="1400" dirty="0" smtClean="0"/>
              <a:t> </a:t>
            </a:r>
            <a:r>
              <a:rPr lang="en-GB" sz="1400" b="1" dirty="0" smtClean="0">
                <a:solidFill>
                  <a:srgbClr val="43260a"/>
                </a:solidFill>
              </a:rPr>
              <a:t>Ida </a:t>
            </a:r>
            <a:r>
              <a:rPr lang="en-GB" sz="1400" b="1" i="1" dirty="0" smtClean="0">
                <a:solidFill>
                  <a:srgbClr val="43260a"/>
                </a:solidFill>
              </a:rPr>
              <a:t>et al.</a:t>
            </a:r>
          </a:p>
          <a:p>
            <a:pPr algn="r"/>
            <a:r>
              <a:rPr lang="en-GB" sz="1200" dirty="0" smtClean="0">
                <a:solidFill>
                  <a:srgbClr val="FF0000"/>
                </a:solidFill>
              </a:rPr>
              <a:t> </a:t>
            </a:r>
            <a:r>
              <a:rPr lang="en-GB" sz="1200" dirty="0" smtClean="0">
                <a:solidFill>
                  <a:srgbClr val="FF0000"/>
                </a:solidFill>
              </a:rPr>
              <a:t/>
            </a:r>
            <a:r>
              <a:rPr lang="en-GB" sz="1200" b="1" dirty="0" smtClean="0">
                <a:solidFill>
                  <a:srgbClr val="43260a"/>
                </a:solidFill>
              </a:rPr>
              <a:t>Volume 33</a:t>
            </a:r>
            <a:r>
              <a:rPr lang="en-GB" sz="1200" dirty="0" smtClean="0">
                <a:solidFill>
                  <a:srgbClr val="595959"/>
                </a:solidFill>
              </a:rPr>
              <a:t> | </a:t>
            </a:r>
            <a:r>
              <a:rPr lang="en-GB" sz="1200" b="1" dirty="0" smtClean="0">
                <a:solidFill>
                  <a:srgbClr val="43260a"/>
                </a:solidFill>
              </a:rPr>
              <a:t>Part 6</a:t>
            </a:r>
            <a:r>
              <a:rPr lang="en-GB" sz="1200" dirty="0" smtClean="0">
                <a:solidFill>
                  <a:srgbClr val="595959"/>
                </a:solidFill>
              </a:rPr>
              <a:t> | </a:t>
            </a:r>
            <a:r>
              <a:rPr lang="en-GB" sz="1200" dirty="0" smtClean="0">
                <a:solidFill>
                  <a:srgbClr val="43260a"/>
                </a:solidFill>
              </a:rPr>
              <a:t>December 2000</a:t>
            </a:r>
            <a:r>
              <a:rPr lang="en-GB" sz="1200" dirty="0" smtClean="0">
                <a:solidFill>
                  <a:srgbClr val="595959"/>
                </a:solidFill>
              </a:rPr>
              <a:t> | </a:t>
            </a:r>
            <a:r>
              <a:rPr lang="en-GB" sz="1200" dirty="0" smtClean="0">
                <a:solidFill>
                  <a:srgbClr val="43260a"/>
                </a:solidFill>
              </a:rPr>
              <a:t>Pages 1311–1316</a:t>
            </a:r>
            <a:r>
              <a:rPr lang="en-GB" sz="1200" dirty="0" smtClean="0">
                <a:solidFill>
                  <a:srgbClr val="595959"/>
                </a:solidFill>
              </a:rPr>
              <a:t> | </a:t>
            </a:r>
            <a:r>
              <a:rPr lang="en-GB" sz="1200" dirty="0" smtClean="0">
                <a:solidFill>
                  <a:srgbClr val="43260a"/>
                </a:solidFill>
              </a:rPr>
              <a:t/>
            </a:r>
            <a:endParaRPr lang="en-GB" sz="1200" dirty="0">
              <a:solidFill>
                <a:srgbClr val="FF0000"/>
              </a:solidFill>
            </a:endParaRPr>
          </a:p>
        </p:txBody>
      </p:sp>
      <p:pic>
        <p:nvPicPr>
          <p:cNvPr id="4" name="Journal Logo 4" descr="IUCrlogo.png"/>
          <p:cNvPicPr>
            <a:picLocks noChangeAspect="1"/>
          </p:cNvPicPr>
          <p:nvPr/>
        </p:nvPicPr>
        <p:blipFill>
          <a:blip r:embed="rId4" cstate="print"/>
          <a:stretch>
            <a:fillRect/>
          </a:stretch>
        </p:blipFill>
        <p:spPr>
          <a:xfrm>
            <a:off x="395536" y="6021289"/>
            <a:ext cx="1944216" cy="579920"/>
          </a:xfrm>
          <a:prstGeom prst="rect">
            <a:avLst/>
          </a:prstGeom>
        </p:spPr>
      </p:pic>
      <p:pic>
        <p:nvPicPr>
          <p:cNvPr id="5" name="Figure 4" descr="IUCrfigure.png"/>
          <p:cNvPicPr>
            <a:picLocks noChangeAspect="1"/>
          </p:cNvPicPr>
          <p:nvPr/>
        </p:nvPicPr>
        <p:blipFill>
          <a:blip r:embed="rId5" cstate="print"/>
          <a:stretch>
            <a:fillRect/>
          </a:stretch>
        </p:blipFill>
        <p:spPr>
          <a:xfrm>
            <a:off x="889148" y="1052736"/>
            <a:ext cx="7365703" cy="482453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 5"/>
          <p:cNvSpPr>
            <a:spLocks noGrp="1"/>
          </p:cNvSpPr>
          <p:nvPr>
            <p:ph type="ctrTitle"/>
          </p:nvPr>
        </p:nvSpPr>
        <p:spPr>
          <a:xfrm>
            <a:off x="683568" y="332656"/>
            <a:ext cx="7772400" cy="576064"/>
          </a:xfrm>
        </p:spPr>
        <p:txBody>
          <a:bodyPr>
            <a:normAutofit/>
          </a:bodyPr>
          <a:lstStyle/>
          <a:p>
            <a:r>
              <a:rPr lang="en-GB" sz="1400" dirty="0" smtClean="0"/>
              <a:t/>
            </a:r>
            <a:r>
              <a:rPr lang="en-GB" b="0" sz="1400" dirty="0" smtClean="0">
                <a:solidFill>
                  <a:srgbClr val="595959"/>
                </a:solidFill>
              </a:rPr>
              <a:t>Figure 5. The optimized values of extended pseudo-Voigt parameters η</a:t>
            </a:r>
            <a:r>
              <a:rPr lang="en-GB" b="0" i="0" sz="1400" baseline="-25000" dirty="0" smtClean="0">
                <a:solidFill>
                  <a:srgbClr val="595959"/>
                </a:solidFill>
              </a:rPr>
              <a:t/>
            </a:r>
            <a:r>
              <a:rPr lang="en-GB" b="0" i="1" sz="1400" baseline="-25000" dirty="0" smtClean="0">
                <a:solidFill>
                  <a:srgbClr val="595959"/>
                </a:solidFill>
              </a:rPr>
              <a:t>L</a:t>
            </a:r>
            <a:r>
              <a:rPr lang="en-GB" b="0" i="0" sz="1400" baseline="-25000" dirty="0" smtClean="0">
                <a:solidFill>
                  <a:srgbClr val="595959"/>
                </a:solidFill>
              </a:rPr>
              <a:t/>
            </a:r>
            <a:r>
              <a:rPr lang="en-GB" b="0" i="0" sz="1400" baseline="0" dirty="0" smtClean="0">
                <a:solidFill>
                  <a:srgbClr val="595959"/>
                </a:solidFill>
              </a:rPr>
              <a:t>, η</a:t>
            </a:r>
            <a:r>
              <a:rPr lang="en-GB" b="0" i="0" sz="1400" baseline="-25000" dirty="0" smtClean="0">
                <a:solidFill>
                  <a:srgbClr val="595959"/>
                </a:solidFill>
              </a:rPr>
              <a:t/>
            </a:r>
            <a:r>
              <a:rPr lang="en-GB" b="0" i="1" sz="1400" baseline="-25000" dirty="0" smtClean="0">
                <a:solidFill>
                  <a:srgbClr val="595959"/>
                </a:solidFill>
              </a:rPr>
              <a:t>I</a:t>
            </a:r>
            <a:r>
              <a:rPr lang="en-GB" b="0" i="0" sz="1400" baseline="-25000" dirty="0" smtClean="0">
                <a:solidFill>
                  <a:srgbClr val="595959"/>
                </a:solidFill>
              </a:rPr>
              <a:t/>
            </a:r>
            <a:r>
              <a:rPr lang="en-GB" b="0" i="0" sz="1400" baseline="0" dirty="0" smtClean="0">
                <a:solidFill>
                  <a:srgbClr val="595959"/>
                </a:solidFill>
              </a:rPr>
              <a:t> and η</a:t>
            </a:r>
            <a:r>
              <a:rPr lang="en-GB" b="0" i="0" sz="1400" baseline="-25000" dirty="0" smtClean="0">
                <a:solidFill>
                  <a:srgbClr val="595959"/>
                </a:solidFill>
              </a:rPr>
              <a:t/>
            </a:r>
            <a:r>
              <a:rPr lang="en-GB" b="0" i="1" sz="1400" baseline="-25000" dirty="0" smtClean="0">
                <a:solidFill>
                  <a:srgbClr val="595959"/>
                </a:solidFill>
              </a:rPr>
              <a:t>P</a:t>
            </a:r>
            <a:r>
              <a:rPr lang="en-GB" b="0" i="0" sz="1400" baseline="-25000" dirty="0" smtClean="0">
                <a:solidFill>
                  <a:srgbClr val="595959"/>
                </a:solidFill>
              </a:rPr>
              <a:t/>
            </a:r>
            <a:r>
              <a:rPr lang="en-GB" b="0" i="0" sz="1400" baseline="0" dirty="0" smtClean="0">
                <a:solidFill>
                  <a:srgbClr val="595959"/>
                </a:solidFill>
              </a:rPr>
              <a:t>.</a:t>
            </a:r>
            <a:endParaRPr lang="en-GB" sz="1400" dirty="0"/>
          </a:p>
        </p:txBody>
      </p:sp>
      <p:sp>
        <p:nvSpPr>
          <p:cNvPr id="3" name="Journal Reference 5"/>
          <p:cNvSpPr>
            <a:spLocks noGrp="1"/>
          </p:cNvSpPr>
          <p:nvPr>
            <p:ph type="subTitle" idx="1"/>
          </p:nvPr>
        </p:nvSpPr>
        <p:spPr>
          <a:xfrm>
            <a:off x="2483768" y="6093296"/>
            <a:ext cx="6264696" cy="625624"/>
          </a:xfrm>
        </p:spPr>
        <p:txBody>
          <a:bodyPr>
            <a:normAutofit/>
          </a:bodyPr>
          <a:lstStyle/>
          <a:p>
            <a:pPr algn="r"/>
            <a:r>
              <a:rPr lang="en-GB" sz="1400" dirty="0" smtClean="0"/>
              <a:t> </a:t>
            </a:r>
            <a:r>
              <a:rPr lang="en-GB" sz="1400" b="1" dirty="0" smtClean="0">
                <a:solidFill>
                  <a:srgbClr val="43260a"/>
                </a:solidFill>
              </a:rPr>
              <a:t>Ida </a:t>
            </a:r>
            <a:r>
              <a:rPr lang="en-GB" sz="1400" b="1" i="1" dirty="0" smtClean="0">
                <a:solidFill>
                  <a:srgbClr val="43260a"/>
                </a:solidFill>
              </a:rPr>
              <a:t>et al.</a:t>
            </a:r>
          </a:p>
          <a:p>
            <a:pPr algn="r"/>
            <a:r>
              <a:rPr lang="en-GB" sz="1200" dirty="0" smtClean="0">
                <a:solidFill>
                  <a:srgbClr val="FF0000"/>
                </a:solidFill>
              </a:rPr>
              <a:t> </a:t>
            </a:r>
            <a:r>
              <a:rPr lang="en-GB" sz="1200" dirty="0" smtClean="0">
                <a:solidFill>
                  <a:srgbClr val="FF0000"/>
                </a:solidFill>
              </a:rPr>
              <a:t/>
            </a:r>
            <a:r>
              <a:rPr lang="en-GB" sz="1200" b="1" dirty="0" smtClean="0">
                <a:solidFill>
                  <a:srgbClr val="43260a"/>
                </a:solidFill>
              </a:rPr>
              <a:t>Volume 33</a:t>
            </a:r>
            <a:r>
              <a:rPr lang="en-GB" sz="1200" dirty="0" smtClean="0">
                <a:solidFill>
                  <a:srgbClr val="595959"/>
                </a:solidFill>
              </a:rPr>
              <a:t> | </a:t>
            </a:r>
            <a:r>
              <a:rPr lang="en-GB" sz="1200" b="1" dirty="0" smtClean="0">
                <a:solidFill>
                  <a:srgbClr val="43260a"/>
                </a:solidFill>
              </a:rPr>
              <a:t>Part 6</a:t>
            </a:r>
            <a:r>
              <a:rPr lang="en-GB" sz="1200" dirty="0" smtClean="0">
                <a:solidFill>
                  <a:srgbClr val="595959"/>
                </a:solidFill>
              </a:rPr>
              <a:t> | </a:t>
            </a:r>
            <a:r>
              <a:rPr lang="en-GB" sz="1200" dirty="0" smtClean="0">
                <a:solidFill>
                  <a:srgbClr val="43260a"/>
                </a:solidFill>
              </a:rPr>
              <a:t>December 2000</a:t>
            </a:r>
            <a:r>
              <a:rPr lang="en-GB" sz="1200" dirty="0" smtClean="0">
                <a:solidFill>
                  <a:srgbClr val="595959"/>
                </a:solidFill>
              </a:rPr>
              <a:t> | </a:t>
            </a:r>
            <a:r>
              <a:rPr lang="en-GB" sz="1200" dirty="0" smtClean="0">
                <a:solidFill>
                  <a:srgbClr val="43260a"/>
                </a:solidFill>
              </a:rPr>
              <a:t>Pages 1311–1316</a:t>
            </a:r>
            <a:r>
              <a:rPr lang="en-GB" sz="1200" dirty="0" smtClean="0">
                <a:solidFill>
                  <a:srgbClr val="595959"/>
                </a:solidFill>
              </a:rPr>
              <a:t> | </a:t>
            </a:r>
            <a:r>
              <a:rPr lang="en-GB" sz="1200" dirty="0" smtClean="0">
                <a:solidFill>
                  <a:srgbClr val="43260a"/>
                </a:solidFill>
              </a:rPr>
              <a:t/>
            </a:r>
            <a:endParaRPr lang="en-GB" sz="1200" dirty="0">
              <a:solidFill>
                <a:srgbClr val="FF0000"/>
              </a:solidFill>
            </a:endParaRPr>
          </a:p>
        </p:txBody>
      </p:sp>
      <p:pic>
        <p:nvPicPr>
          <p:cNvPr id="4" name="Journal Logo 5" descr="IUCrlogo.png"/>
          <p:cNvPicPr>
            <a:picLocks noChangeAspect="1"/>
          </p:cNvPicPr>
          <p:nvPr/>
        </p:nvPicPr>
        <p:blipFill>
          <a:blip r:embed="rId4" cstate="print"/>
          <a:stretch>
            <a:fillRect/>
          </a:stretch>
        </p:blipFill>
        <p:spPr>
          <a:xfrm>
            <a:off x="395536" y="6021289"/>
            <a:ext cx="1944216" cy="579920"/>
          </a:xfrm>
          <a:prstGeom prst="rect">
            <a:avLst/>
          </a:prstGeom>
        </p:spPr>
      </p:pic>
      <p:pic>
        <p:nvPicPr>
          <p:cNvPr id="5" name="Figure 5" descr="IUCrfigure.png"/>
          <p:cNvPicPr>
            <a:picLocks noChangeAspect="1"/>
          </p:cNvPicPr>
          <p:nvPr/>
        </p:nvPicPr>
        <p:blipFill>
          <a:blip r:embed="rId5" cstate="print"/>
          <a:stretch>
            <a:fillRect/>
          </a:stretch>
        </p:blipFill>
        <p:spPr>
          <a:xfrm>
            <a:off x="947557" y="1052736"/>
            <a:ext cx="7248885" cy="48245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 6"/>
          <p:cNvSpPr>
            <a:spLocks noGrp="1"/>
          </p:cNvSpPr>
          <p:nvPr>
            <p:ph type="ctrTitle"/>
          </p:nvPr>
        </p:nvSpPr>
        <p:spPr>
          <a:xfrm>
            <a:off x="683568" y="332656"/>
            <a:ext cx="7772400" cy="576064"/>
          </a:xfrm>
        </p:spPr>
        <p:txBody>
          <a:bodyPr>
            <a:normAutofit/>
          </a:bodyPr>
          <a:lstStyle/>
          <a:p>
            <a:r>
              <a:rPr lang="en-GB" sz="1400" dirty="0" smtClean="0"/>
              <a:t/>
            </a:r>
            <a:r>
              <a:rPr lang="en-GB" b="0" sz="1400" dirty="0" smtClean="0">
                <a:solidFill>
                  <a:srgbClr val="595959"/>
                </a:solidFill>
              </a:rPr>
              <a:t>Figure 6. Three-dimensional plot of the deviation of the extended pseudo-Voigt function from the Voigt profile relative to the peak height.</a:t>
            </a:r>
            <a:endParaRPr lang="en-GB" sz="1400" dirty="0"/>
          </a:p>
        </p:txBody>
      </p:sp>
      <p:sp>
        <p:nvSpPr>
          <p:cNvPr id="3" name="Journal Reference 6"/>
          <p:cNvSpPr>
            <a:spLocks noGrp="1"/>
          </p:cNvSpPr>
          <p:nvPr>
            <p:ph type="subTitle" idx="1"/>
          </p:nvPr>
        </p:nvSpPr>
        <p:spPr>
          <a:xfrm>
            <a:off x="2483768" y="6093296"/>
            <a:ext cx="6264696" cy="625624"/>
          </a:xfrm>
        </p:spPr>
        <p:txBody>
          <a:bodyPr>
            <a:normAutofit/>
          </a:bodyPr>
          <a:lstStyle/>
          <a:p>
            <a:pPr algn="r"/>
            <a:r>
              <a:rPr lang="en-GB" sz="1400" dirty="0" smtClean="0"/>
              <a:t> </a:t>
            </a:r>
            <a:r>
              <a:rPr lang="en-GB" sz="1400" b="1" dirty="0" smtClean="0">
                <a:solidFill>
                  <a:srgbClr val="43260a"/>
                </a:solidFill>
              </a:rPr>
              <a:t>Ida </a:t>
            </a:r>
            <a:r>
              <a:rPr lang="en-GB" sz="1400" b="1" i="1" dirty="0" smtClean="0">
                <a:solidFill>
                  <a:srgbClr val="43260a"/>
                </a:solidFill>
              </a:rPr>
              <a:t>et al.</a:t>
            </a:r>
          </a:p>
          <a:p>
            <a:pPr algn="r"/>
            <a:r>
              <a:rPr lang="en-GB" sz="1200" dirty="0" smtClean="0">
                <a:solidFill>
                  <a:srgbClr val="FF0000"/>
                </a:solidFill>
              </a:rPr>
              <a:t> </a:t>
            </a:r>
            <a:r>
              <a:rPr lang="en-GB" sz="1200" dirty="0" smtClean="0">
                <a:solidFill>
                  <a:srgbClr val="FF0000"/>
                </a:solidFill>
              </a:rPr>
              <a:t/>
            </a:r>
            <a:r>
              <a:rPr lang="en-GB" sz="1200" b="1" dirty="0" smtClean="0">
                <a:solidFill>
                  <a:srgbClr val="43260a"/>
                </a:solidFill>
              </a:rPr>
              <a:t>Volume 33</a:t>
            </a:r>
            <a:r>
              <a:rPr lang="en-GB" sz="1200" dirty="0" smtClean="0">
                <a:solidFill>
                  <a:srgbClr val="595959"/>
                </a:solidFill>
              </a:rPr>
              <a:t> | </a:t>
            </a:r>
            <a:r>
              <a:rPr lang="en-GB" sz="1200" b="1" dirty="0" smtClean="0">
                <a:solidFill>
                  <a:srgbClr val="43260a"/>
                </a:solidFill>
              </a:rPr>
              <a:t>Part 6</a:t>
            </a:r>
            <a:r>
              <a:rPr lang="en-GB" sz="1200" dirty="0" smtClean="0">
                <a:solidFill>
                  <a:srgbClr val="595959"/>
                </a:solidFill>
              </a:rPr>
              <a:t> | </a:t>
            </a:r>
            <a:r>
              <a:rPr lang="en-GB" sz="1200" dirty="0" smtClean="0">
                <a:solidFill>
                  <a:srgbClr val="43260a"/>
                </a:solidFill>
              </a:rPr>
              <a:t>December 2000</a:t>
            </a:r>
            <a:r>
              <a:rPr lang="en-GB" sz="1200" dirty="0" smtClean="0">
                <a:solidFill>
                  <a:srgbClr val="595959"/>
                </a:solidFill>
              </a:rPr>
              <a:t> | </a:t>
            </a:r>
            <a:r>
              <a:rPr lang="en-GB" sz="1200" dirty="0" smtClean="0">
                <a:solidFill>
                  <a:srgbClr val="43260a"/>
                </a:solidFill>
              </a:rPr>
              <a:t>Pages 1311–1316</a:t>
            </a:r>
            <a:r>
              <a:rPr lang="en-GB" sz="1200" dirty="0" smtClean="0">
                <a:solidFill>
                  <a:srgbClr val="595959"/>
                </a:solidFill>
              </a:rPr>
              <a:t> | </a:t>
            </a:r>
            <a:r>
              <a:rPr lang="en-GB" sz="1200" dirty="0" smtClean="0">
                <a:solidFill>
                  <a:srgbClr val="43260a"/>
                </a:solidFill>
              </a:rPr>
              <a:t/>
            </a:r>
            <a:endParaRPr lang="en-GB" sz="1200" dirty="0">
              <a:solidFill>
                <a:srgbClr val="FF0000"/>
              </a:solidFill>
            </a:endParaRPr>
          </a:p>
        </p:txBody>
      </p:sp>
      <p:pic>
        <p:nvPicPr>
          <p:cNvPr id="4" name="Journal Logo 6" descr="IUCrlogo.png"/>
          <p:cNvPicPr>
            <a:picLocks noChangeAspect="1"/>
          </p:cNvPicPr>
          <p:nvPr/>
        </p:nvPicPr>
        <p:blipFill>
          <a:blip r:embed="rId4" cstate="print"/>
          <a:stretch>
            <a:fillRect/>
          </a:stretch>
        </p:blipFill>
        <p:spPr>
          <a:xfrm>
            <a:off x="395536" y="6021289"/>
            <a:ext cx="1944216" cy="579920"/>
          </a:xfrm>
          <a:prstGeom prst="rect">
            <a:avLst/>
          </a:prstGeom>
        </p:spPr>
      </p:pic>
      <p:pic>
        <p:nvPicPr>
          <p:cNvPr id="5" name="Figure 6" descr="IUCrfigure.png"/>
          <p:cNvPicPr>
            <a:picLocks noChangeAspect="1"/>
          </p:cNvPicPr>
          <p:nvPr/>
        </p:nvPicPr>
        <p:blipFill>
          <a:blip r:embed="rId5" cstate="print"/>
          <a:stretch>
            <a:fillRect/>
          </a:stretch>
        </p:blipFill>
        <p:spPr>
          <a:xfrm>
            <a:off x="1970393" y="1052736"/>
            <a:ext cx="5203214" cy="482453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 7"/>
          <p:cNvSpPr>
            <a:spLocks noGrp="1"/>
          </p:cNvSpPr>
          <p:nvPr>
            <p:ph type="ctrTitle"/>
          </p:nvPr>
        </p:nvSpPr>
        <p:spPr>
          <a:xfrm>
            <a:off x="683568" y="332656"/>
            <a:ext cx="7772400" cy="576064"/>
          </a:xfrm>
        </p:spPr>
        <p:txBody>
          <a:bodyPr>
            <a:normAutofit/>
          </a:bodyPr>
          <a:lstStyle/>
          <a:p>
            <a:r>
              <a:rPr lang="en-GB" sz="1400" dirty="0" smtClean="0"/>
              <a:t/>
            </a:r>
            <a:r>
              <a:rPr lang="en-GB" b="0" sz="1400" dirty="0" smtClean="0">
                <a:solidFill>
                  <a:srgbClr val="595959"/>
                </a:solidFill>
              </a:rPr>
              <a:t>Figure 7. Errors in estimation of the integrated intensity </a:t>
            </a:r>
            <a:r>
              <a:rPr lang="en-GB" b="0" i="1" sz="1400" baseline="0" dirty="0" smtClean="0">
                <a:solidFill>
                  <a:srgbClr val="595959"/>
                </a:solidFill>
              </a:rPr>
              <a:t>I</a:t>
            </a:r>
            <a:r>
              <a:rPr lang="en-GB" b="0" i="0" sz="1400" baseline="0" dirty="0" smtClean="0">
                <a:solidFill>
                  <a:srgbClr val="595959"/>
                </a:solidFill>
              </a:rPr>
              <a:t> from Voigt profile data. The data labelled `TCH' were calculated by the formula proposed by Thompson </a:t>
            </a:r>
            <a:r>
              <a:rPr lang="en-GB" b="0" i="1" sz="1400" baseline="0" dirty="0" smtClean="0">
                <a:solidFill>
                  <a:srgbClr val="595959"/>
                </a:solidFill>
              </a:rPr>
              <a:t>et al.</a:t>
            </a:r>
            <a:r>
              <a:rPr lang="en-GB" b="0" i="0" sz="1400" baseline="0" dirty="0" smtClean="0">
                <a:solidFill>
                  <a:srgbClr val="595959"/>
                </a:solidFill>
              </a:rPr>
              <a:t> (1987), and those labelled  ...</a:t>
            </a:r>
            <a:endParaRPr lang="en-GB" sz="1400" dirty="0"/>
          </a:p>
        </p:txBody>
      </p:sp>
      <p:sp>
        <p:nvSpPr>
          <p:cNvPr id="3" name="Journal Reference 7"/>
          <p:cNvSpPr>
            <a:spLocks noGrp="1"/>
          </p:cNvSpPr>
          <p:nvPr>
            <p:ph type="subTitle" idx="1"/>
          </p:nvPr>
        </p:nvSpPr>
        <p:spPr>
          <a:xfrm>
            <a:off x="2483768" y="6093296"/>
            <a:ext cx="6264696" cy="625624"/>
          </a:xfrm>
        </p:spPr>
        <p:txBody>
          <a:bodyPr>
            <a:normAutofit/>
          </a:bodyPr>
          <a:lstStyle/>
          <a:p>
            <a:pPr algn="r"/>
            <a:r>
              <a:rPr lang="en-GB" sz="1400" dirty="0" smtClean="0"/>
              <a:t> </a:t>
            </a:r>
            <a:r>
              <a:rPr lang="en-GB" sz="1400" b="1" dirty="0" smtClean="0">
                <a:solidFill>
                  <a:srgbClr val="43260a"/>
                </a:solidFill>
              </a:rPr>
              <a:t>Ida </a:t>
            </a:r>
            <a:r>
              <a:rPr lang="en-GB" sz="1400" b="1" i="1" dirty="0" smtClean="0">
                <a:solidFill>
                  <a:srgbClr val="43260a"/>
                </a:solidFill>
              </a:rPr>
              <a:t>et al.</a:t>
            </a:r>
          </a:p>
          <a:p>
            <a:pPr algn="r"/>
            <a:r>
              <a:rPr lang="en-GB" sz="1200" dirty="0" smtClean="0">
                <a:solidFill>
                  <a:srgbClr val="FF0000"/>
                </a:solidFill>
              </a:rPr>
              <a:t> </a:t>
            </a:r>
            <a:r>
              <a:rPr lang="en-GB" sz="1200" dirty="0" smtClean="0">
                <a:solidFill>
                  <a:srgbClr val="FF0000"/>
                </a:solidFill>
              </a:rPr>
              <a:t/>
            </a:r>
            <a:r>
              <a:rPr lang="en-GB" sz="1200" b="1" dirty="0" smtClean="0">
                <a:solidFill>
                  <a:srgbClr val="43260a"/>
                </a:solidFill>
              </a:rPr>
              <a:t>Volume 33</a:t>
            </a:r>
            <a:r>
              <a:rPr lang="en-GB" sz="1200" dirty="0" smtClean="0">
                <a:solidFill>
                  <a:srgbClr val="595959"/>
                </a:solidFill>
              </a:rPr>
              <a:t> | </a:t>
            </a:r>
            <a:r>
              <a:rPr lang="en-GB" sz="1200" b="1" dirty="0" smtClean="0">
                <a:solidFill>
                  <a:srgbClr val="43260a"/>
                </a:solidFill>
              </a:rPr>
              <a:t>Part 6</a:t>
            </a:r>
            <a:r>
              <a:rPr lang="en-GB" sz="1200" dirty="0" smtClean="0">
                <a:solidFill>
                  <a:srgbClr val="595959"/>
                </a:solidFill>
              </a:rPr>
              <a:t> | </a:t>
            </a:r>
            <a:r>
              <a:rPr lang="en-GB" sz="1200" dirty="0" smtClean="0">
                <a:solidFill>
                  <a:srgbClr val="43260a"/>
                </a:solidFill>
              </a:rPr>
              <a:t>December 2000</a:t>
            </a:r>
            <a:r>
              <a:rPr lang="en-GB" sz="1200" dirty="0" smtClean="0">
                <a:solidFill>
                  <a:srgbClr val="595959"/>
                </a:solidFill>
              </a:rPr>
              <a:t> | </a:t>
            </a:r>
            <a:r>
              <a:rPr lang="en-GB" sz="1200" dirty="0" smtClean="0">
                <a:solidFill>
                  <a:srgbClr val="43260a"/>
                </a:solidFill>
              </a:rPr>
              <a:t>Pages 1311–1316</a:t>
            </a:r>
            <a:r>
              <a:rPr lang="en-GB" sz="1200" dirty="0" smtClean="0">
                <a:solidFill>
                  <a:srgbClr val="595959"/>
                </a:solidFill>
              </a:rPr>
              <a:t> | </a:t>
            </a:r>
            <a:r>
              <a:rPr lang="en-GB" sz="1200" dirty="0" smtClean="0">
                <a:solidFill>
                  <a:srgbClr val="43260a"/>
                </a:solidFill>
              </a:rPr>
              <a:t/>
            </a:r>
            <a:endParaRPr lang="en-GB" sz="1200" dirty="0">
              <a:solidFill>
                <a:srgbClr val="FF0000"/>
              </a:solidFill>
            </a:endParaRPr>
          </a:p>
        </p:txBody>
      </p:sp>
      <p:pic>
        <p:nvPicPr>
          <p:cNvPr id="4" name="Journal Logo 7" descr="IUCrlogo.png"/>
          <p:cNvPicPr>
            <a:picLocks noChangeAspect="1"/>
          </p:cNvPicPr>
          <p:nvPr/>
        </p:nvPicPr>
        <p:blipFill>
          <a:blip r:embed="rId4" cstate="print"/>
          <a:stretch>
            <a:fillRect/>
          </a:stretch>
        </p:blipFill>
        <p:spPr>
          <a:xfrm>
            <a:off x="395536" y="6021289"/>
            <a:ext cx="1944216" cy="579920"/>
          </a:xfrm>
          <a:prstGeom prst="rect">
            <a:avLst/>
          </a:prstGeom>
        </p:spPr>
      </p:pic>
      <p:pic>
        <p:nvPicPr>
          <p:cNvPr id="5" name="Figure 7" descr="IUCrfigure.png"/>
          <p:cNvPicPr>
            <a:picLocks noChangeAspect="1"/>
          </p:cNvPicPr>
          <p:nvPr/>
        </p:nvPicPr>
        <p:blipFill>
          <a:blip r:embed="rId5" cstate="print"/>
          <a:stretch>
            <a:fillRect/>
          </a:stretch>
        </p:blipFill>
        <p:spPr>
          <a:xfrm>
            <a:off x="1622216" y="1052736"/>
            <a:ext cx="5899568" cy="48245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 8"/>
          <p:cNvSpPr>
            <a:spLocks noGrp="1"/>
          </p:cNvSpPr>
          <p:nvPr>
            <p:ph type="ctrTitle"/>
          </p:nvPr>
        </p:nvSpPr>
        <p:spPr>
          <a:xfrm>
            <a:off x="683568" y="332656"/>
            <a:ext cx="7772400" cy="576064"/>
          </a:xfrm>
        </p:spPr>
        <p:txBody>
          <a:bodyPr>
            <a:normAutofit/>
          </a:bodyPr>
          <a:lstStyle/>
          <a:p>
            <a:r>
              <a:rPr lang="en-GB" sz="1400" dirty="0" smtClean="0"/>
              <a:t/>
            </a:r>
            <a:r>
              <a:rPr lang="en-GB" b="0" sz="1400" dirty="0" smtClean="0">
                <a:solidFill>
                  <a:srgbClr val="595959"/>
                </a:solidFill>
              </a:rPr>
              <a:t>Figure 8. Errors in estimation of the Gaussian FWHM Γ</a:t>
            </a:r>
            <a:r>
              <a:rPr lang="en-GB" b="0" i="0" sz="1400" baseline="-25000" dirty="0" smtClean="0">
                <a:solidFill>
                  <a:srgbClr val="595959"/>
                </a:solidFill>
              </a:rPr>
              <a:t/>
            </a:r>
            <a:r>
              <a:rPr lang="en-GB" b="0" i="1" sz="1400" baseline="-25000" dirty="0" smtClean="0">
                <a:solidFill>
                  <a:srgbClr val="595959"/>
                </a:solidFill>
              </a:rPr>
              <a:t>G</a:t>
            </a:r>
            <a:r>
              <a:rPr lang="en-GB" b="0" i="0" sz="1400" baseline="-25000" dirty="0" smtClean="0">
                <a:solidFill>
                  <a:srgbClr val="595959"/>
                </a:solidFill>
              </a:rPr>
              <a:t/>
            </a:r>
            <a:r>
              <a:rPr lang="en-GB" b="0" i="0" sz="1400" baseline="0" dirty="0" smtClean="0">
                <a:solidFill>
                  <a:srgbClr val="595959"/>
                </a:solidFill>
              </a:rPr>
              <a:t> from Voigt profile data.</a:t>
            </a:r>
            <a:endParaRPr lang="en-GB" sz="1400" dirty="0"/>
          </a:p>
        </p:txBody>
      </p:sp>
      <p:sp>
        <p:nvSpPr>
          <p:cNvPr id="3" name="Journal Reference 8"/>
          <p:cNvSpPr>
            <a:spLocks noGrp="1"/>
          </p:cNvSpPr>
          <p:nvPr>
            <p:ph type="subTitle" idx="1"/>
          </p:nvPr>
        </p:nvSpPr>
        <p:spPr>
          <a:xfrm>
            <a:off x="2483768" y="6093296"/>
            <a:ext cx="6264696" cy="625624"/>
          </a:xfrm>
        </p:spPr>
        <p:txBody>
          <a:bodyPr>
            <a:normAutofit/>
          </a:bodyPr>
          <a:lstStyle/>
          <a:p>
            <a:pPr algn="r"/>
            <a:r>
              <a:rPr lang="en-GB" sz="1400" dirty="0" smtClean="0"/>
              <a:t> </a:t>
            </a:r>
            <a:r>
              <a:rPr lang="en-GB" sz="1400" b="1" dirty="0" smtClean="0">
                <a:solidFill>
                  <a:srgbClr val="43260a"/>
                </a:solidFill>
              </a:rPr>
              <a:t>Ida </a:t>
            </a:r>
            <a:r>
              <a:rPr lang="en-GB" sz="1400" b="1" i="1" dirty="0" smtClean="0">
                <a:solidFill>
                  <a:srgbClr val="43260a"/>
                </a:solidFill>
              </a:rPr>
              <a:t>et al.</a:t>
            </a:r>
          </a:p>
          <a:p>
            <a:pPr algn="r"/>
            <a:r>
              <a:rPr lang="en-GB" sz="1200" dirty="0" smtClean="0">
                <a:solidFill>
                  <a:srgbClr val="FF0000"/>
                </a:solidFill>
              </a:rPr>
              <a:t> </a:t>
            </a:r>
            <a:r>
              <a:rPr lang="en-GB" sz="1200" dirty="0" smtClean="0">
                <a:solidFill>
                  <a:srgbClr val="FF0000"/>
                </a:solidFill>
              </a:rPr>
              <a:t/>
            </a:r>
            <a:r>
              <a:rPr lang="en-GB" sz="1200" b="1" dirty="0" smtClean="0">
                <a:solidFill>
                  <a:srgbClr val="43260a"/>
                </a:solidFill>
              </a:rPr>
              <a:t>Volume 33</a:t>
            </a:r>
            <a:r>
              <a:rPr lang="en-GB" sz="1200" dirty="0" smtClean="0">
                <a:solidFill>
                  <a:srgbClr val="595959"/>
                </a:solidFill>
              </a:rPr>
              <a:t> | </a:t>
            </a:r>
            <a:r>
              <a:rPr lang="en-GB" sz="1200" b="1" dirty="0" smtClean="0">
                <a:solidFill>
                  <a:srgbClr val="43260a"/>
                </a:solidFill>
              </a:rPr>
              <a:t>Part 6</a:t>
            </a:r>
            <a:r>
              <a:rPr lang="en-GB" sz="1200" dirty="0" smtClean="0">
                <a:solidFill>
                  <a:srgbClr val="595959"/>
                </a:solidFill>
              </a:rPr>
              <a:t> | </a:t>
            </a:r>
            <a:r>
              <a:rPr lang="en-GB" sz="1200" dirty="0" smtClean="0">
                <a:solidFill>
                  <a:srgbClr val="43260a"/>
                </a:solidFill>
              </a:rPr>
              <a:t>December 2000</a:t>
            </a:r>
            <a:r>
              <a:rPr lang="en-GB" sz="1200" dirty="0" smtClean="0">
                <a:solidFill>
                  <a:srgbClr val="595959"/>
                </a:solidFill>
              </a:rPr>
              <a:t> | </a:t>
            </a:r>
            <a:r>
              <a:rPr lang="en-GB" sz="1200" dirty="0" smtClean="0">
                <a:solidFill>
                  <a:srgbClr val="43260a"/>
                </a:solidFill>
              </a:rPr>
              <a:t>Pages 1311–1316</a:t>
            </a:r>
            <a:r>
              <a:rPr lang="en-GB" sz="1200" dirty="0" smtClean="0">
                <a:solidFill>
                  <a:srgbClr val="595959"/>
                </a:solidFill>
              </a:rPr>
              <a:t> | </a:t>
            </a:r>
            <a:r>
              <a:rPr lang="en-GB" sz="1200" dirty="0" smtClean="0">
                <a:solidFill>
                  <a:srgbClr val="43260a"/>
                </a:solidFill>
              </a:rPr>
              <a:t/>
            </a:r>
            <a:endParaRPr lang="en-GB" sz="1200" dirty="0">
              <a:solidFill>
                <a:srgbClr val="FF0000"/>
              </a:solidFill>
            </a:endParaRPr>
          </a:p>
        </p:txBody>
      </p:sp>
      <p:pic>
        <p:nvPicPr>
          <p:cNvPr id="4" name="Journal Logo 8" descr="IUCrlogo.png"/>
          <p:cNvPicPr>
            <a:picLocks noChangeAspect="1"/>
          </p:cNvPicPr>
          <p:nvPr/>
        </p:nvPicPr>
        <p:blipFill>
          <a:blip r:embed="rId4" cstate="print"/>
          <a:stretch>
            <a:fillRect/>
          </a:stretch>
        </p:blipFill>
        <p:spPr>
          <a:xfrm>
            <a:off x="395536" y="6021289"/>
            <a:ext cx="1944216" cy="579920"/>
          </a:xfrm>
          <a:prstGeom prst="rect">
            <a:avLst/>
          </a:prstGeom>
        </p:spPr>
      </p:pic>
      <p:pic>
        <p:nvPicPr>
          <p:cNvPr id="5" name="Figure 8" descr="IUCrfigure.png"/>
          <p:cNvPicPr>
            <a:picLocks noChangeAspect="1"/>
          </p:cNvPicPr>
          <p:nvPr/>
        </p:nvPicPr>
        <p:blipFill>
          <a:blip r:embed="rId5" cstate="print"/>
          <a:stretch>
            <a:fillRect/>
          </a:stretch>
        </p:blipFill>
        <p:spPr>
          <a:xfrm>
            <a:off x="1630210" y="1052736"/>
            <a:ext cx="5883580" cy="48245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 9"/>
          <p:cNvSpPr>
            <a:spLocks noGrp="1"/>
          </p:cNvSpPr>
          <p:nvPr>
            <p:ph type="ctrTitle"/>
          </p:nvPr>
        </p:nvSpPr>
        <p:spPr>
          <a:xfrm>
            <a:off x="683568" y="332656"/>
            <a:ext cx="7772400" cy="576064"/>
          </a:xfrm>
        </p:spPr>
        <p:txBody>
          <a:bodyPr>
            <a:normAutofit/>
          </a:bodyPr>
          <a:lstStyle/>
          <a:p>
            <a:r>
              <a:rPr lang="en-GB" sz="1400" dirty="0" smtClean="0"/>
              <a:t/>
            </a:r>
            <a:r>
              <a:rPr lang="en-GB" b="0" sz="1400" dirty="0" smtClean="0">
                <a:solidFill>
                  <a:srgbClr val="595959"/>
                </a:solidFill>
              </a:rPr>
              <a:t>Figure 9. Errors in estimation of the Lorentzian FWHM Γ</a:t>
            </a:r>
            <a:r>
              <a:rPr lang="en-GB" b="0" i="0" sz="1400" baseline="-25000" dirty="0" smtClean="0">
                <a:solidFill>
                  <a:srgbClr val="595959"/>
                </a:solidFill>
              </a:rPr>
              <a:t/>
            </a:r>
            <a:r>
              <a:rPr lang="en-GB" b="0" i="1" sz="1400" baseline="-25000" dirty="0" smtClean="0">
                <a:solidFill>
                  <a:srgbClr val="595959"/>
                </a:solidFill>
              </a:rPr>
              <a:t>L</a:t>
            </a:r>
            <a:r>
              <a:rPr lang="en-GB" b="0" i="0" sz="1400" baseline="-25000" dirty="0" smtClean="0">
                <a:solidFill>
                  <a:srgbClr val="595959"/>
                </a:solidFill>
              </a:rPr>
              <a:t/>
            </a:r>
            <a:r>
              <a:rPr lang="en-GB" b="0" i="0" sz="1400" baseline="0" dirty="0" smtClean="0">
                <a:solidFill>
                  <a:srgbClr val="595959"/>
                </a:solidFill>
              </a:rPr>
              <a:t> from Voigt profile data.</a:t>
            </a:r>
            <a:endParaRPr lang="en-GB" sz="1400" dirty="0"/>
          </a:p>
        </p:txBody>
      </p:sp>
      <p:sp>
        <p:nvSpPr>
          <p:cNvPr id="3" name="Journal Reference 9"/>
          <p:cNvSpPr>
            <a:spLocks noGrp="1"/>
          </p:cNvSpPr>
          <p:nvPr>
            <p:ph type="subTitle" idx="1"/>
          </p:nvPr>
        </p:nvSpPr>
        <p:spPr>
          <a:xfrm>
            <a:off x="2483768" y="6093296"/>
            <a:ext cx="6264696" cy="625624"/>
          </a:xfrm>
        </p:spPr>
        <p:txBody>
          <a:bodyPr>
            <a:normAutofit/>
          </a:bodyPr>
          <a:lstStyle/>
          <a:p>
            <a:pPr algn="r"/>
            <a:r>
              <a:rPr lang="en-GB" sz="1400" dirty="0" smtClean="0"/>
              <a:t> </a:t>
            </a:r>
            <a:r>
              <a:rPr lang="en-GB" sz="1400" b="1" dirty="0" smtClean="0">
                <a:solidFill>
                  <a:srgbClr val="43260a"/>
                </a:solidFill>
              </a:rPr>
              <a:t>Ida </a:t>
            </a:r>
            <a:r>
              <a:rPr lang="en-GB" sz="1400" b="1" i="1" dirty="0" smtClean="0">
                <a:solidFill>
                  <a:srgbClr val="43260a"/>
                </a:solidFill>
              </a:rPr>
              <a:t>et al.</a:t>
            </a:r>
          </a:p>
          <a:p>
            <a:pPr algn="r"/>
            <a:r>
              <a:rPr lang="en-GB" sz="1200" dirty="0" smtClean="0">
                <a:solidFill>
                  <a:srgbClr val="FF0000"/>
                </a:solidFill>
              </a:rPr>
              <a:t> </a:t>
            </a:r>
            <a:r>
              <a:rPr lang="en-GB" sz="1200" dirty="0" smtClean="0">
                <a:solidFill>
                  <a:srgbClr val="FF0000"/>
                </a:solidFill>
              </a:rPr>
              <a:t/>
            </a:r>
            <a:r>
              <a:rPr lang="en-GB" sz="1200" b="1" dirty="0" smtClean="0">
                <a:solidFill>
                  <a:srgbClr val="43260a"/>
                </a:solidFill>
              </a:rPr>
              <a:t>Volume 33</a:t>
            </a:r>
            <a:r>
              <a:rPr lang="en-GB" sz="1200" dirty="0" smtClean="0">
                <a:solidFill>
                  <a:srgbClr val="595959"/>
                </a:solidFill>
              </a:rPr>
              <a:t> | </a:t>
            </a:r>
            <a:r>
              <a:rPr lang="en-GB" sz="1200" b="1" dirty="0" smtClean="0">
                <a:solidFill>
                  <a:srgbClr val="43260a"/>
                </a:solidFill>
              </a:rPr>
              <a:t>Part 6</a:t>
            </a:r>
            <a:r>
              <a:rPr lang="en-GB" sz="1200" dirty="0" smtClean="0">
                <a:solidFill>
                  <a:srgbClr val="595959"/>
                </a:solidFill>
              </a:rPr>
              <a:t> | </a:t>
            </a:r>
            <a:r>
              <a:rPr lang="en-GB" sz="1200" dirty="0" smtClean="0">
                <a:solidFill>
                  <a:srgbClr val="43260a"/>
                </a:solidFill>
              </a:rPr>
              <a:t>December 2000</a:t>
            </a:r>
            <a:r>
              <a:rPr lang="en-GB" sz="1200" dirty="0" smtClean="0">
                <a:solidFill>
                  <a:srgbClr val="595959"/>
                </a:solidFill>
              </a:rPr>
              <a:t> | </a:t>
            </a:r>
            <a:r>
              <a:rPr lang="en-GB" sz="1200" dirty="0" smtClean="0">
                <a:solidFill>
                  <a:srgbClr val="43260a"/>
                </a:solidFill>
              </a:rPr>
              <a:t>Pages 1311–1316</a:t>
            </a:r>
            <a:r>
              <a:rPr lang="en-GB" sz="1200" dirty="0" smtClean="0">
                <a:solidFill>
                  <a:srgbClr val="595959"/>
                </a:solidFill>
              </a:rPr>
              <a:t> | </a:t>
            </a:r>
            <a:r>
              <a:rPr lang="en-GB" sz="1200" dirty="0" smtClean="0">
                <a:solidFill>
                  <a:srgbClr val="43260a"/>
                </a:solidFill>
              </a:rPr>
              <a:t/>
            </a:r>
            <a:endParaRPr lang="en-GB" sz="1200" dirty="0">
              <a:solidFill>
                <a:srgbClr val="FF0000"/>
              </a:solidFill>
            </a:endParaRPr>
          </a:p>
        </p:txBody>
      </p:sp>
      <p:pic>
        <p:nvPicPr>
          <p:cNvPr id="4" name="Journal Logo 9" descr="IUCrlogo.png"/>
          <p:cNvPicPr>
            <a:picLocks noChangeAspect="1"/>
          </p:cNvPicPr>
          <p:nvPr/>
        </p:nvPicPr>
        <p:blipFill>
          <a:blip r:embed="rId4" cstate="print"/>
          <a:stretch>
            <a:fillRect/>
          </a:stretch>
        </p:blipFill>
        <p:spPr>
          <a:xfrm>
            <a:off x="395536" y="6021289"/>
            <a:ext cx="1944216" cy="579920"/>
          </a:xfrm>
          <a:prstGeom prst="rect">
            <a:avLst/>
          </a:prstGeom>
        </p:spPr>
      </p:pic>
      <p:pic>
        <p:nvPicPr>
          <p:cNvPr id="5" name="Figure 9" descr="IUCrfigure.png"/>
          <p:cNvPicPr>
            <a:picLocks noChangeAspect="1"/>
          </p:cNvPicPr>
          <p:nvPr/>
        </p:nvPicPr>
        <p:blipFill>
          <a:blip r:embed="rId5" cstate="print"/>
          <a:stretch>
            <a:fillRect/>
          </a:stretch>
        </p:blipFill>
        <p:spPr>
          <a:xfrm>
            <a:off x="1630210" y="1052736"/>
            <a:ext cx="5883580" cy="4824536"/>
          </a:xfrm>
          <a:prstGeom prst="rect">
            <a:avLst/>
          </a:prstGeom>
        </p:spPr>
      </p:pic>
    </p:spTree>
  </p:cSld>
  <p:clrMapOvr>
    <a:masterClrMapping/>
  </p:clrMapOvr>
</p:sld>
</file>

<file path=ppt/slides/slideabstract.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stract"/>
          <p:cNvSpPr>
            <a:spLocks noGrp="1"/>
          </p:cNvSpPr>
          <p:nvPr>
            <p:ph type="ctrTitle"/>
          </p:nvPr>
        </p:nvSpPr>
        <p:spPr>
          <a:xfrm>
            <a:off x="683568" y="332656"/>
            <a:ext cx="7772400" cy="5310922"/>
          </a:xfrm>
        </p:spPr>
        <p:txBody>
          <a:bodyPr>
            <a:normAutofit/>
          </a:bodyPr>
          <a:lstStyle/>
          <a:p>
            <a:pPr algn="l"/>
            <a:r>
              <a:rPr lang="en-GB" sz="1400" b="1" dirty="0" smtClean="0">
                <a:solidFill>
                  <a:srgbClr val="595959"/>
                </a:solidFill>
              </a:rPr>
              <a:t/>
            </a:r>
            <a:r>
              <a:rPr lang="en-GB" b="1" sz="1600" dirty="0" smtClean="0">
                <a:solidFill>
                  <a:srgbClr val="666666"/>
                </a:solidFill>
              </a:rPr>
              <a:t>Extended pseudo-Voigt function for approximating the Voigt profile</a:t>
            </a:r>
            <a:endParaRPr lang="en-GB" sz="1400" dirty="0"/>
          </a:p>
          <a:p>
            <a:pPr algn="l"/>
            <a:r>
              <a:rPr lang="en-GB" sz="1400" dirty="0" smtClean="0">
                <a:solidFill>
                  <a:srgbClr val="595959"/>
                </a:solidFill>
              </a:rPr>
              <a:t/>
            </a:r>
            <a:endParaRPr lang="en-GB" sz="1400" dirty="0"/>
          </a:p>
          <a:p>
            <a:pPr algn="l"/>
            <a:r>
              <a:rPr lang="en-GB" sz="1400" b="1" dirty="0" smtClean="0">
                <a:solidFill>
                  <a:srgbClr val="595959"/>
                </a:solidFill>
              </a:rPr>
              <a:t/>
            </a:r>
            <a:r>
              <a:rPr lang="en-GB" b="0" sz="1400" dirty="0" smtClean="0">
                <a:solidFill>
                  <a:srgbClr val="595959"/>
                </a:solidFill>
              </a:rPr>
              <a:t>The formula of the pseudo-Voigt function is extended in order to improve the accuracy when approximating the Voigt profile. When the extended formula is applied for curve fitting to a Voigt profile, the accuracy of the estimated profile parameters can be improved considerably.</a:t>
            </a:r>
            <a:endParaRPr lang="en-GB" sz="1400" dirty="0"/>
          </a:p>
          <a:p>
            <a:pPr algn="l"/>
            <a:r>
              <a:rPr lang="en-GB" sz="1400" dirty="0" smtClean="0">
                <a:solidFill>
                  <a:srgbClr val="595959"/>
                </a:solidFill>
              </a:rPr>
              <a:t/>
            </a:r>
            <a:endParaRPr lang="en-GB" sz="1400" dirty="0"/>
          </a:p>
          <a:p>
            <a:pPr algn="l"/>
            <a:r>
              <a:rPr lang="en-GB" sz="1400" b="1" dirty="0" smtClean="0">
                <a:solidFill>
                  <a:srgbClr val="666666"/>
                </a:solidFill>
              </a:rPr>
              <a:t> </a:t>
            </a:r>
            <a:endParaRPr lang="en-GB" sz="1400" dirty="0"/>
          </a:p>
        </p:txBody>
      </p:sp>
      <p:sp>
        <p:nvSpPr>
          <p:cNvPr id="3" name="Journal Reference Abstract"/>
          <p:cNvSpPr>
            <a:spLocks noGrp="1"/>
          </p:cNvSpPr>
          <p:nvPr>
            <p:ph type="subTitle" idx="1"/>
          </p:nvPr>
        </p:nvSpPr>
        <p:spPr>
          <a:xfrm>
            <a:off x="2483768" y="6093296"/>
            <a:ext cx="6264696" cy="625624"/>
          </a:xfrm>
        </p:spPr>
        <p:txBody>
          <a:bodyPr>
            <a:normAutofit/>
          </a:bodyPr>
          <a:lstStyle/>
          <a:p>
            <a:pPr algn="r"/>
            <a:r>
              <a:rPr lang="en-GB" sz="1400" dirty="0" smtClean="0"/>
              <a:t> </a:t>
            </a:r>
            <a:r>
              <a:rPr lang="en-GB" sz="1400" b="1" dirty="0" smtClean="0">
                <a:solidFill>
                  <a:srgbClr val="43260a"/>
                </a:solidFill>
              </a:rPr>
              <a:t>Ida </a:t>
            </a:r>
            <a:r>
              <a:rPr lang="en-GB" sz="1400" b="1" i="1" dirty="0" smtClean="0">
                <a:solidFill>
                  <a:srgbClr val="43260a"/>
                </a:solidFill>
              </a:rPr>
              <a:t>et al.</a:t>
            </a:r>
          </a:p>
          <a:p>
            <a:pPr algn="r"/>
            <a:r>
              <a:rPr lang="en-GB" sz="1200" dirty="0" smtClean="0">
                <a:solidFill>
                  <a:srgbClr val="FF0000"/>
                </a:solidFill>
              </a:rPr>
              <a:t> </a:t>
            </a:r>
            <a:r>
              <a:rPr lang="en-GB" sz="1200" dirty="0" smtClean="0">
                <a:solidFill>
                  <a:srgbClr val="FF0000"/>
                </a:solidFill>
              </a:rPr>
              <a:t/>
            </a:r>
            <a:r>
              <a:rPr lang="en-GB" sz="1200" b="1" dirty="0" smtClean="0">
                <a:solidFill>
                  <a:srgbClr val="43260a"/>
                </a:solidFill>
              </a:rPr>
              <a:t>Volume 33</a:t>
            </a:r>
            <a:r>
              <a:rPr lang="en-GB" sz="1200" dirty="0" smtClean="0">
                <a:solidFill>
                  <a:srgbClr val="595959"/>
                </a:solidFill>
              </a:rPr>
              <a:t> | </a:t>
            </a:r>
            <a:r>
              <a:rPr lang="en-GB" sz="1200" b="1" dirty="0" smtClean="0">
                <a:solidFill>
                  <a:srgbClr val="43260a"/>
                </a:solidFill>
              </a:rPr>
              <a:t>Part 6</a:t>
            </a:r>
            <a:r>
              <a:rPr lang="en-GB" sz="1200" dirty="0" smtClean="0">
                <a:solidFill>
                  <a:srgbClr val="595959"/>
                </a:solidFill>
              </a:rPr>
              <a:t> | </a:t>
            </a:r>
            <a:r>
              <a:rPr lang="en-GB" sz="1200" dirty="0" smtClean="0">
                <a:solidFill>
                  <a:srgbClr val="43260a"/>
                </a:solidFill>
              </a:rPr>
              <a:t>December 2000</a:t>
            </a:r>
            <a:r>
              <a:rPr lang="en-GB" sz="1200" dirty="0" smtClean="0">
                <a:solidFill>
                  <a:srgbClr val="595959"/>
                </a:solidFill>
              </a:rPr>
              <a:t> | </a:t>
            </a:r>
            <a:r>
              <a:rPr lang="en-GB" sz="1200" dirty="0" smtClean="0">
                <a:solidFill>
                  <a:srgbClr val="43260a"/>
                </a:solidFill>
              </a:rPr>
              <a:t>Pages 1311–1316</a:t>
            </a:r>
            <a:r>
              <a:rPr lang="en-GB" sz="1200" dirty="0" smtClean="0">
                <a:solidFill>
                  <a:srgbClr val="595959"/>
                </a:solidFill>
              </a:rPr>
              <a:t> | </a:t>
            </a:r>
            <a:r>
              <a:rPr lang="en-GB" sz="1200" dirty="0" smtClean="0">
                <a:solidFill>
                  <a:srgbClr val="43260a"/>
                </a:solidFill>
              </a:rPr>
              <a:t/>
            </a:r>
            <a:endParaRPr lang="en-GB" sz="1200" dirty="0">
              <a:solidFill>
                <a:srgbClr val="FF0000"/>
              </a:solidFill>
            </a:endParaRPr>
          </a:p>
        </p:txBody>
      </p:sp>
      <p:pic>
        <p:nvPicPr>
          <p:cNvPr id="4" name="Journal Logo Abstract" descr="IUCrlogo.png"/>
          <p:cNvPicPr>
            <a:picLocks noChangeAspect="1"/>
          </p:cNvPicPr>
          <p:nvPr/>
        </p:nvPicPr>
        <p:blipFill>
          <a:blip r:embed="rId3" cstate="print"/>
          <a:stretch>
            <a:fillRect/>
          </a:stretch>
        </p:blipFill>
        <p:spPr>
          <a:xfrm>
            <a:off x="395536" y="6021289"/>
            <a:ext cx="1944216" cy="579920"/>
          </a:xfrm>
          <a:prstGeom prst="rect">
            <a:avLst/>
          </a:prstGeom>
        </p:spPr>
      </p:pic>
    </p:spTree>
  </p:cSld>
  <p:clrMapOvr>
    <a:masterClrMapping/>
  </p:clrMapOvr>
</p:sld>
</file>

<file path=ppt/slides/slidecover.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ticle Title"/>
          <p:cNvSpPr>
            <a:spLocks noGrp="1"/>
          </p:cNvSpPr>
          <p:nvPr>
            <p:ph type="ctrTitle"/>
          </p:nvPr>
        </p:nvSpPr>
        <p:spPr>
          <a:xfrm>
            <a:off x="714348" y="2857496"/>
            <a:ext cx="7843838" cy="3571900"/>
          </a:xfrm>
        </p:spPr>
        <p:txBody>
          <a:bodyPr anchor="t">
            <a:noAutofit/>
          </a:bodyPr>
          <a:lstStyle/>
          <a:p>
            <a:pPr algn="l"/>
            <a:r>
              <a:rPr lang="en-GB" sz="2000" b="1" dirty="0" smtClean="0">
                <a:solidFill>
                  <a:srgbClr val="666666"/>
                </a:solidFill>
              </a:rPr>
              <a:t/>
            </a:r>
            <a:r>
              <a:rPr lang="en-GB" b="1" sz="2000" dirty="0" smtClean="0">
                <a:solidFill>
                  <a:srgbClr val="666666"/>
                </a:solidFill>
              </a:rPr>
              <a:t>Extended pseudo-Voigt function for approximating the Voigt profile</a:t>
            </a:r>
            <a:endParaRPr lang="en-GB" sz="2000" dirty="0"/>
          </a:p>
          <a:p>
            <a:pPr algn="l"/>
            <a:r>
              <a:rPr lang="en-GB" sz="1400" dirty="0" smtClean="0">
                <a:solidFill>
                  <a:srgbClr val="595959"/>
                </a:solidFill>
              </a:rPr>
              <a:t/>
            </a:r>
            <a:endParaRPr lang="en-GB" sz="1400" dirty="0"/>
          </a:p>
          <a:p>
            <a:pPr algn="l"/>
            <a:r>
              <a:rPr lang="en-GB" sz="1600" b="1" dirty="0" smtClean="0">
                <a:solidFill>
                  <a:srgbClr val="595959"/>
                </a:solidFill>
              </a:rPr>
              <a:t/>
            </a:r>
            <a:r>
              <a:rPr lang="en-GB" sz="1600" b="1" dirty="0" smtClean="0">
                <a:solidFill>
                  <a:srgbClr val="43260a"/>
                </a:solidFill>
              </a:rPr>
              <a:t>T. Ida, M. Ando and H. Toraya</a:t>
            </a:r>
            <a:endParaRPr lang="en-GB" sz="1400" dirty="0"/>
          </a:p>
        </p:txBody>
      </p:sp>
      <p:sp>
        <p:nvSpPr>
          <p:cNvPr id="3" name="Journal Reference"/>
          <p:cNvSpPr>
            <a:spLocks noGrp="1"/>
          </p:cNvSpPr>
          <p:nvPr>
            <p:ph type="subTitle" idx="1"/>
          </p:nvPr>
        </p:nvSpPr>
        <p:spPr>
          <a:xfrm>
            <a:off x="714348" y="2071678"/>
            <a:ext cx="7858180" cy="625624"/>
          </a:xfrm>
        </p:spPr>
        <p:txBody>
          <a:bodyPr>
            <a:normAutofit/>
          </a:bodyPr>
          <a:lstStyle/>
          <a:p>
            <a:pPr algn="l"/>
            <a:r>
              <a:rPr lang="en-GB" sz="1600" b="1" dirty="0" smtClean="0">
                <a:solidFill>
                  <a:srgbClr val="990000"/>
                </a:solidFill>
              </a:rPr>
              <a:t/>
            </a:r>
            <a:r>
              <a:rPr lang="en-GB" sz="1600" b="1" dirty="0" smtClean="0">
                <a:solidFill>
                  <a:srgbClr val="43260a"/>
                </a:solidFill>
              </a:rPr>
              <a:t>Volume 33</a:t>
            </a:r>
            <a:r>
              <a:rPr lang="en-GB" sz="1600" dirty="0" smtClean="0">
                <a:solidFill>
                  <a:srgbClr val="595959"/>
                </a:solidFill>
              </a:rPr>
              <a:t> | </a:t>
            </a:r>
            <a:r>
              <a:rPr lang="en-GB" sz="1600" b="1" dirty="0" smtClean="0">
                <a:solidFill>
                  <a:srgbClr val="43260a"/>
                </a:solidFill>
              </a:rPr>
              <a:t>Part 6</a:t>
            </a:r>
            <a:r>
              <a:rPr lang="en-GB" sz="1600" dirty="0" smtClean="0">
                <a:solidFill>
                  <a:srgbClr val="595959"/>
                </a:solidFill>
              </a:rPr>
              <a:t> | </a:t>
            </a:r>
            <a:r>
              <a:rPr lang="en-GB" sz="1600" dirty="0" smtClean="0">
                <a:solidFill>
                  <a:srgbClr val="43260a"/>
                </a:solidFill>
              </a:rPr>
              <a:t>December 2000</a:t>
            </a:r>
            <a:r>
              <a:rPr lang="en-GB" sz="1600" dirty="0" smtClean="0">
                <a:solidFill>
                  <a:srgbClr val="595959"/>
                </a:solidFill>
              </a:rPr>
              <a:t> | </a:t>
            </a:r>
            <a:r>
              <a:rPr lang="en-GB" sz="1600" dirty="0" smtClean="0">
                <a:solidFill>
                  <a:srgbClr val="43260a"/>
                </a:solidFill>
              </a:rPr>
              <a:t>Pages 1311–1316</a:t>
            </a:r>
            <a:r>
              <a:rPr lang="en-GB" sz="1600" dirty="0" smtClean="0">
                <a:solidFill>
                  <a:srgbClr val="595959"/>
                </a:solidFill>
              </a:rPr>
              <a:t> | </a:t>
            </a:r>
            <a:r>
              <a:rPr lang="en-GB" sz="1600" dirty="0" smtClean="0">
                <a:solidFill>
                  <a:srgbClr val="43260a"/>
                </a:solidFill>
              </a:rPr>
              <a:t/>
            </a:r>
            <a:endParaRPr lang="en-GB" sz="1600" dirty="0">
              <a:solidFill>
                <a:srgbClr val="FF0000"/>
              </a:solidFill>
            </a:endParaRPr>
          </a:p>
        </p:txBody>
      </p:sp>
      <p:pic>
        <p:nvPicPr>
          <p:cNvPr id="4" name="Journal Logo" descr="IUCrlogo.png"/>
          <p:cNvPicPr>
            <a:picLocks noChangeAspect="1"/>
          </p:cNvPicPr>
          <p:nvPr/>
        </p:nvPicPr>
        <p:blipFill>
          <a:blip r:embed="rId3" cstate="print"/>
          <a:stretch>
            <a:fillRect/>
          </a:stretch>
        </p:blipFill>
        <p:spPr>
          <a:xfrm>
            <a:off x="785786" y="714356"/>
            <a:ext cx="3832002" cy="11430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9</Words>
  <Application>Microsoft Office PowerPoint</Application>
  <PresentationFormat>On-screen Show (4:3)</PresentationFormat>
  <Paragraphs>5</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Figure title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 title</dc:title>
  <dc:creator>simon</dc:creator>
  <cp:lastModifiedBy>simon</cp:lastModifiedBy>
  <cp:revision>6</cp:revision>
  <dcterms:created xsi:type="dcterms:W3CDTF">2014-12-05T16:09:44Z</dcterms:created>
  <dcterms:modified xsi:type="dcterms:W3CDTF">2014-12-09T11:44:25Z</dcterms:modified>
</cp:coreProperties>
</file>